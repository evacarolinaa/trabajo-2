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8" r:id="rId5"/>
    <p:sldId id="269" r:id="rId6"/>
    <p:sldId id="259" r:id="rId7"/>
    <p:sldId id="260" r:id="rId8"/>
    <p:sldId id="261" r:id="rId9"/>
    <p:sldId id="262" r:id="rId10"/>
    <p:sldId id="263" r:id="rId11"/>
    <p:sldId id="264" r:id="rId12"/>
    <p:sldId id="265" r:id="rId13"/>
    <p:sldId id="266" r:id="rId1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9BD554-AA1B-46D1-8381-4BA1EC7294E8}" v="2" dt="2026-06-15T17:02:10.2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94" autoAdjust="0"/>
  </p:normalViewPr>
  <p:slideViewPr>
    <p:cSldViewPr snapToGrid="0" snapToObjects="1">
      <p:cViewPr varScale="1">
        <p:scale>
          <a:sx n="78" d="100"/>
          <a:sy n="78" d="100"/>
        </p:scale>
        <p:origin x="940" y="3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onia Cea" userId="3bfc968ca9625593" providerId="LiveId" clId="{7F5DBAB7-6535-44FC-868C-8D3FA86BFD23}"/>
    <pc:docChg chg="custSel addSld delSld modSld">
      <pc:chgData name="Antonia Cea" userId="3bfc968ca9625593" providerId="LiveId" clId="{7F5DBAB7-6535-44FC-868C-8D3FA86BFD23}" dt="2026-06-15T17:06:30.501" v="138" actId="1076"/>
      <pc:docMkLst>
        <pc:docMk/>
      </pc:docMkLst>
      <pc:sldChg chg="addSp delSp modSp mod">
        <pc:chgData name="Antonia Cea" userId="3bfc968ca9625593" providerId="LiveId" clId="{7F5DBAB7-6535-44FC-868C-8D3FA86BFD23}" dt="2026-06-15T16:57:52.002" v="55" actId="255"/>
        <pc:sldMkLst>
          <pc:docMk/>
          <pc:sldMk cId="0" sldId="258"/>
        </pc:sldMkLst>
        <pc:spChg chg="add mod">
          <ac:chgData name="Antonia Cea" userId="3bfc968ca9625593" providerId="LiveId" clId="{7F5DBAB7-6535-44FC-868C-8D3FA86BFD23}" dt="2026-06-15T16:57:35.625" v="52" actId="478"/>
          <ac:spMkLst>
            <pc:docMk/>
            <pc:sldMk cId="0" sldId="258"/>
            <ac:spMk id="3" creationId="{4D6D91DE-4352-2BCF-001B-961E12C6B01D}"/>
          </ac:spMkLst>
        </pc:spChg>
        <pc:spChg chg="mod">
          <ac:chgData name="Antonia Cea" userId="3bfc968ca9625593" providerId="LiveId" clId="{7F5DBAB7-6535-44FC-868C-8D3FA86BFD23}" dt="2026-06-15T16:57:52.002" v="55" actId="255"/>
          <ac:spMkLst>
            <pc:docMk/>
            <pc:sldMk cId="0" sldId="258"/>
            <ac:spMk id="4" creationId="{00000000-0000-0000-0000-000000000000}"/>
          </ac:spMkLst>
        </pc:spChg>
        <pc:graphicFrameChg chg="del">
          <ac:chgData name="Antonia Cea" userId="3bfc968ca9625593" providerId="LiveId" clId="{7F5DBAB7-6535-44FC-868C-8D3FA86BFD23}" dt="2026-06-15T16:57:35.625" v="52" actId="478"/>
          <ac:graphicFrameMkLst>
            <pc:docMk/>
            <pc:sldMk cId="0" sldId="258"/>
            <ac:graphicFrameMk id="6" creationId="{00000000-0000-0000-0000-000000000000}"/>
          </ac:graphicFrameMkLst>
        </pc:graphicFrameChg>
      </pc:sldChg>
      <pc:sldChg chg="modSp mod">
        <pc:chgData name="Antonia Cea" userId="3bfc968ca9625593" providerId="LiveId" clId="{7F5DBAB7-6535-44FC-868C-8D3FA86BFD23}" dt="2026-06-15T16:55:21.560" v="22" actId="1076"/>
        <pc:sldMkLst>
          <pc:docMk/>
          <pc:sldMk cId="0" sldId="259"/>
        </pc:sldMkLst>
        <pc:spChg chg="mod">
          <ac:chgData name="Antonia Cea" userId="3bfc968ca9625593" providerId="LiveId" clId="{7F5DBAB7-6535-44FC-868C-8D3FA86BFD23}" dt="2026-06-15T16:55:02.006" v="20" actId="255"/>
          <ac:spMkLst>
            <pc:docMk/>
            <pc:sldMk cId="0" sldId="259"/>
            <ac:spMk id="4" creationId="{00000000-0000-0000-0000-000000000000}"/>
          </ac:spMkLst>
        </pc:spChg>
        <pc:graphicFrameChg chg="mod modGraphic">
          <ac:chgData name="Antonia Cea" userId="3bfc968ca9625593" providerId="LiveId" clId="{7F5DBAB7-6535-44FC-868C-8D3FA86BFD23}" dt="2026-06-15T16:55:21.560" v="22" actId="1076"/>
          <ac:graphicFrameMkLst>
            <pc:docMk/>
            <pc:sldMk cId="0" sldId="259"/>
            <ac:graphicFrameMk id="6" creationId="{00000000-0000-0000-0000-000000000000}"/>
          </ac:graphicFrameMkLst>
        </pc:graphicFrameChg>
      </pc:sldChg>
      <pc:sldChg chg="modSp mod">
        <pc:chgData name="Antonia Cea" userId="3bfc968ca9625593" providerId="LiveId" clId="{7F5DBAB7-6535-44FC-868C-8D3FA86BFD23}" dt="2026-06-15T16:58:59.326" v="64" actId="1076"/>
        <pc:sldMkLst>
          <pc:docMk/>
          <pc:sldMk cId="0" sldId="260"/>
        </pc:sldMkLst>
        <pc:spChg chg="mod">
          <ac:chgData name="Antonia Cea" userId="3bfc968ca9625593" providerId="LiveId" clId="{7F5DBAB7-6535-44FC-868C-8D3FA86BFD23}" dt="2026-06-15T16:58:59.326" v="64" actId="1076"/>
          <ac:spMkLst>
            <pc:docMk/>
            <pc:sldMk cId="0" sldId="260"/>
            <ac:spMk id="4" creationId="{00000000-0000-0000-0000-000000000000}"/>
          </ac:spMkLst>
        </pc:spChg>
        <pc:graphicFrameChg chg="mod modGraphic">
          <ac:chgData name="Antonia Cea" userId="3bfc968ca9625593" providerId="LiveId" clId="{7F5DBAB7-6535-44FC-868C-8D3FA86BFD23}" dt="2026-06-15T16:58:55.419" v="63" actId="1076"/>
          <ac:graphicFrameMkLst>
            <pc:docMk/>
            <pc:sldMk cId="0" sldId="260"/>
            <ac:graphicFrameMk id="6" creationId="{00000000-0000-0000-0000-000000000000}"/>
          </ac:graphicFrameMkLst>
        </pc:graphicFrameChg>
      </pc:sldChg>
      <pc:sldChg chg="modSp mod">
        <pc:chgData name="Antonia Cea" userId="3bfc968ca9625593" providerId="LiveId" clId="{7F5DBAB7-6535-44FC-868C-8D3FA86BFD23}" dt="2026-06-15T16:59:20.729" v="66" actId="27636"/>
        <pc:sldMkLst>
          <pc:docMk/>
          <pc:sldMk cId="0" sldId="261"/>
        </pc:sldMkLst>
        <pc:spChg chg="mod">
          <ac:chgData name="Antonia Cea" userId="3bfc968ca9625593" providerId="LiveId" clId="{7F5DBAB7-6535-44FC-868C-8D3FA86BFD23}" dt="2026-06-15T16:59:20.729" v="66" actId="27636"/>
          <ac:spMkLst>
            <pc:docMk/>
            <pc:sldMk cId="0" sldId="261"/>
            <ac:spMk id="3" creationId="{00000000-0000-0000-0000-000000000000}"/>
          </ac:spMkLst>
        </pc:spChg>
      </pc:sldChg>
      <pc:sldChg chg="modSp mod">
        <pc:chgData name="Antonia Cea" userId="3bfc968ca9625593" providerId="LiveId" clId="{7F5DBAB7-6535-44FC-868C-8D3FA86BFD23}" dt="2026-06-15T17:01:36.350" v="87" actId="1076"/>
        <pc:sldMkLst>
          <pc:docMk/>
          <pc:sldMk cId="0" sldId="263"/>
        </pc:sldMkLst>
        <pc:spChg chg="mod">
          <ac:chgData name="Antonia Cea" userId="3bfc968ca9625593" providerId="LiveId" clId="{7F5DBAB7-6535-44FC-868C-8D3FA86BFD23}" dt="2026-06-15T17:01:36.350" v="87" actId="1076"/>
          <ac:spMkLst>
            <pc:docMk/>
            <pc:sldMk cId="0" sldId="263"/>
            <ac:spMk id="4" creationId="{00000000-0000-0000-0000-000000000000}"/>
          </ac:spMkLst>
        </pc:spChg>
        <pc:picChg chg="mod">
          <ac:chgData name="Antonia Cea" userId="3bfc968ca9625593" providerId="LiveId" clId="{7F5DBAB7-6535-44FC-868C-8D3FA86BFD23}" dt="2026-06-15T17:01:30.994" v="86" actId="1076"/>
          <ac:picMkLst>
            <pc:docMk/>
            <pc:sldMk cId="0" sldId="263"/>
            <ac:picMk id="2" creationId="{00000000-0000-0000-0000-000000000000}"/>
          </ac:picMkLst>
        </pc:picChg>
      </pc:sldChg>
      <pc:sldChg chg="modSp mod">
        <pc:chgData name="Antonia Cea" userId="3bfc968ca9625593" providerId="LiveId" clId="{7F5DBAB7-6535-44FC-868C-8D3FA86BFD23}" dt="2026-06-15T17:03:31.149" v="106" actId="14100"/>
        <pc:sldMkLst>
          <pc:docMk/>
          <pc:sldMk cId="0" sldId="264"/>
        </pc:sldMkLst>
        <pc:spChg chg="mod">
          <ac:chgData name="Antonia Cea" userId="3bfc968ca9625593" providerId="LiveId" clId="{7F5DBAB7-6535-44FC-868C-8D3FA86BFD23}" dt="2026-06-15T17:03:13.929" v="104" actId="20577"/>
          <ac:spMkLst>
            <pc:docMk/>
            <pc:sldMk cId="0" sldId="264"/>
            <ac:spMk id="4" creationId="{00000000-0000-0000-0000-000000000000}"/>
          </ac:spMkLst>
        </pc:spChg>
        <pc:picChg chg="mod">
          <ac:chgData name="Antonia Cea" userId="3bfc968ca9625593" providerId="LiveId" clId="{7F5DBAB7-6535-44FC-868C-8D3FA86BFD23}" dt="2026-06-15T17:03:31.149" v="106" actId="14100"/>
          <ac:picMkLst>
            <pc:docMk/>
            <pc:sldMk cId="0" sldId="264"/>
            <ac:picMk id="2" creationId="{00000000-0000-0000-0000-000000000000}"/>
          </ac:picMkLst>
        </pc:picChg>
      </pc:sldChg>
      <pc:sldChg chg="modSp mod">
        <pc:chgData name="Antonia Cea" userId="3bfc968ca9625593" providerId="LiveId" clId="{7F5DBAB7-6535-44FC-868C-8D3FA86BFD23}" dt="2026-06-15T17:06:30.501" v="138" actId="1076"/>
        <pc:sldMkLst>
          <pc:docMk/>
          <pc:sldMk cId="0" sldId="265"/>
        </pc:sldMkLst>
        <pc:spChg chg="mod">
          <ac:chgData name="Antonia Cea" userId="3bfc968ca9625593" providerId="LiveId" clId="{7F5DBAB7-6535-44FC-868C-8D3FA86BFD23}" dt="2026-06-15T17:06:26.556" v="137" actId="1076"/>
          <ac:spMkLst>
            <pc:docMk/>
            <pc:sldMk cId="0" sldId="265"/>
            <ac:spMk id="4" creationId="{00000000-0000-0000-0000-000000000000}"/>
          </ac:spMkLst>
        </pc:spChg>
        <pc:picChg chg="mod">
          <ac:chgData name="Antonia Cea" userId="3bfc968ca9625593" providerId="LiveId" clId="{7F5DBAB7-6535-44FC-868C-8D3FA86BFD23}" dt="2026-06-15T17:06:30.501" v="138" actId="1076"/>
          <ac:picMkLst>
            <pc:docMk/>
            <pc:sldMk cId="0" sldId="265"/>
            <ac:picMk id="2" creationId="{00000000-0000-0000-0000-000000000000}"/>
          </ac:picMkLst>
        </pc:picChg>
      </pc:sldChg>
      <pc:sldChg chg="modSp mod">
        <pc:chgData name="Antonia Cea" userId="3bfc968ca9625593" providerId="LiveId" clId="{7F5DBAB7-6535-44FC-868C-8D3FA86BFD23}" dt="2026-06-15T17:04:07.849" v="109" actId="27636"/>
        <pc:sldMkLst>
          <pc:docMk/>
          <pc:sldMk cId="0" sldId="266"/>
        </pc:sldMkLst>
        <pc:spChg chg="mod">
          <ac:chgData name="Antonia Cea" userId="3bfc968ca9625593" providerId="LiveId" clId="{7F5DBAB7-6535-44FC-868C-8D3FA86BFD23}" dt="2026-06-15T17:04:07.849" v="109" actId="27636"/>
          <ac:spMkLst>
            <pc:docMk/>
            <pc:sldMk cId="0" sldId="266"/>
            <ac:spMk id="3" creationId="{00000000-0000-0000-0000-000000000000}"/>
          </ac:spMkLst>
        </pc:spChg>
      </pc:sldChg>
      <pc:sldChg chg="new del">
        <pc:chgData name="Antonia Cea" userId="3bfc968ca9625593" providerId="LiveId" clId="{7F5DBAB7-6535-44FC-868C-8D3FA86BFD23}" dt="2026-06-15T16:55:41.068" v="25" actId="47"/>
        <pc:sldMkLst>
          <pc:docMk/>
          <pc:sldMk cId="771411359" sldId="267"/>
        </pc:sldMkLst>
      </pc:sldChg>
      <pc:sldChg chg="addSp modSp new mod">
        <pc:chgData name="Antonia Cea" userId="3bfc968ca9625593" providerId="LiveId" clId="{7F5DBAB7-6535-44FC-868C-8D3FA86BFD23}" dt="2026-06-15T16:56:20.105" v="31" actId="1076"/>
        <pc:sldMkLst>
          <pc:docMk/>
          <pc:sldMk cId="3033524622" sldId="268"/>
        </pc:sldMkLst>
        <pc:spChg chg="add mod">
          <ac:chgData name="Antonia Cea" userId="3bfc968ca9625593" providerId="LiveId" clId="{7F5DBAB7-6535-44FC-868C-8D3FA86BFD23}" dt="2026-06-15T16:56:20.105" v="31" actId="1076"/>
          <ac:spMkLst>
            <pc:docMk/>
            <pc:sldMk cId="3033524622" sldId="268"/>
            <ac:spMk id="3" creationId="{BE891E19-8A5F-DBF1-F5BA-410E231F1359}"/>
          </ac:spMkLst>
        </pc:spChg>
      </pc:sldChg>
      <pc:sldChg chg="addSp delSp modSp new mod">
        <pc:chgData name="Antonia Cea" userId="3bfc968ca9625593" providerId="LiveId" clId="{7F5DBAB7-6535-44FC-868C-8D3FA86BFD23}" dt="2026-06-15T16:57:30.904" v="51" actId="1076"/>
        <pc:sldMkLst>
          <pc:docMk/>
          <pc:sldMk cId="3364651352" sldId="269"/>
        </pc:sldMkLst>
        <pc:spChg chg="add del mod">
          <ac:chgData name="Antonia Cea" userId="3bfc968ca9625593" providerId="LiveId" clId="{7F5DBAB7-6535-44FC-868C-8D3FA86BFD23}" dt="2026-06-15T16:57:10.141" v="41"/>
          <ac:spMkLst>
            <pc:docMk/>
            <pc:sldMk cId="3364651352" sldId="269"/>
            <ac:spMk id="3" creationId="{7C3C13C9-D64C-03E5-8C2B-2C0F057A70F9}"/>
          </ac:spMkLst>
        </pc:spChg>
        <pc:graphicFrameChg chg="add mod modGraphic">
          <ac:chgData name="Antonia Cea" userId="3bfc968ca9625593" providerId="LiveId" clId="{7F5DBAB7-6535-44FC-868C-8D3FA86BFD23}" dt="2026-06-15T16:57:30.904" v="51" actId="1076"/>
          <ac:graphicFrameMkLst>
            <pc:docMk/>
            <pc:sldMk cId="3364651352" sldId="269"/>
            <ac:graphicFrameMk id="4" creationId="{1B1CCC1E-3D90-070D-D965-C846E49E7330}"/>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‹Nº›</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‹Nº›</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‹Nº›</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‹Nº›</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6/15/2026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‹Nº›</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6/15/2026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‹Nº›</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6/15/2026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‹Nº›</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‹Nº›</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‹Nº›</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‹Nº›</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‹Nº›</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6/15/2026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‹Nº›</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marL="0" lvl="0" indent="0">
              <a:buNone/>
            </a:pPr>
            <a:r>
              <a:t>Trabajo 2</a:t>
            </a:r>
          </a:p>
        </p:txBody>
      </p:sp>
      <p:sp>
        <p:nvSpPr>
          <p:cNvPr id="3" name="Subtitle 2"/>
          <p:cNvSpPr>
            <a:spLocks noGrp="1"/>
          </p:cNvSpPr>
          <p:nvPr>
            <p:ph type="subTitle" idx="1"/>
          </p:nvPr>
        </p:nvSpPr>
        <p:spPr>
          <a:xfrm>
            <a:off x="1371600" y="2914650"/>
            <a:ext cx="6400800" cy="1314450"/>
          </a:xfrm>
        </p:spPr>
        <p:txBody>
          <a:bodyPr/>
          <a:lstStyle/>
          <a:p>
            <a:pPr marL="0" lvl="0" indent="0">
              <a:buNone/>
            </a:pPr>
            <a:br/>
            <a:b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Satisfaccion democratica en Argentina 2023</a:t>
            </a:r>
          </a:p>
        </p:txBody>
      </p:sp>
      <p:pic>
        <p:nvPicPr>
          <p:cNvPr id="3" name="Picture 1" descr="images/64f9c8b5b08a8_transicion-democraticaalta.png"/>
          <p:cNvPicPr>
            <a:picLocks noGrp="1" noChangeAspect="1"/>
          </p:cNvPicPr>
          <p:nvPr/>
        </p:nvPicPr>
        <p:blipFill>
          <a:blip r:embed="rId2"/>
          <a:stretch>
            <a:fillRect/>
          </a:stretch>
        </p:blipFill>
        <p:spPr bwMode="auto">
          <a:xfrm>
            <a:off x="1955800" y="1193800"/>
            <a:ext cx="5219700" cy="3390900"/>
          </a:xfrm>
          <a:prstGeom prst="rect">
            <a:avLst/>
          </a:prstGeom>
          <a:noFill/>
          <a:ln w="9525">
            <a:noFill/>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571500" y="644980"/>
            <a:ext cx="7649935" cy="3788228"/>
          </a:xfrm>
        </p:spPr>
        <p:txBody>
          <a:bodyPr>
            <a:noAutofit/>
          </a:bodyPr>
          <a:lstStyle/>
          <a:p>
            <a:pPr marL="0" lvl="0" indent="0">
              <a:spcBef>
                <a:spcPts val="3000"/>
              </a:spcBef>
              <a:buNone/>
            </a:pPr>
            <a:r>
              <a:rPr sz="1400" b="1" dirty="0" err="1"/>
              <a:t>problema</a:t>
            </a:r>
            <a:r>
              <a:rPr sz="1400" b="1" dirty="0"/>
              <a:t> de </a:t>
            </a:r>
            <a:r>
              <a:rPr sz="1400" b="1" dirty="0" err="1"/>
              <a:t>investigacion</a:t>
            </a:r>
            <a:endParaRPr sz="1400" b="1" dirty="0"/>
          </a:p>
          <a:p>
            <a:pPr marL="0" lvl="0" indent="0">
              <a:buNone/>
            </a:pPr>
            <a:r>
              <a:rPr sz="1400" dirty="0" err="1"/>
              <a:t>Diversos</a:t>
            </a:r>
            <a:r>
              <a:rPr sz="1400" dirty="0"/>
              <a:t> </a:t>
            </a:r>
            <a:r>
              <a:rPr sz="1400" dirty="0" err="1"/>
              <a:t>estudios</a:t>
            </a:r>
            <a:r>
              <a:rPr sz="1400" dirty="0"/>
              <a:t> </a:t>
            </a:r>
            <a:r>
              <a:rPr sz="1400" dirty="0" err="1"/>
              <a:t>han</a:t>
            </a:r>
            <a:r>
              <a:rPr sz="1400" dirty="0"/>
              <a:t> </a:t>
            </a:r>
            <a:r>
              <a:rPr sz="1400" dirty="0" err="1"/>
              <a:t>evidenciado</a:t>
            </a:r>
            <a:r>
              <a:rPr sz="1400" dirty="0"/>
              <a:t> un </a:t>
            </a:r>
            <a:r>
              <a:rPr sz="1400" dirty="0" err="1"/>
              <a:t>deterioro</a:t>
            </a:r>
            <a:r>
              <a:rPr sz="1400" dirty="0"/>
              <a:t> </a:t>
            </a:r>
            <a:r>
              <a:rPr sz="1400" dirty="0" err="1"/>
              <a:t>en</a:t>
            </a:r>
            <a:r>
              <a:rPr sz="1400" dirty="0"/>
              <a:t> la </a:t>
            </a:r>
            <a:r>
              <a:rPr sz="1400" dirty="0" err="1"/>
              <a:t>legitimidad</a:t>
            </a:r>
            <a:r>
              <a:rPr sz="1400" dirty="0"/>
              <a:t> de la </a:t>
            </a:r>
            <a:r>
              <a:rPr sz="1400" dirty="0" err="1"/>
              <a:t>democracia</a:t>
            </a:r>
            <a:r>
              <a:rPr sz="1400" dirty="0"/>
              <a:t> y </a:t>
            </a:r>
            <a:r>
              <a:rPr sz="1400" dirty="0" err="1"/>
              <a:t>una</a:t>
            </a:r>
            <a:r>
              <a:rPr sz="1400" dirty="0"/>
              <a:t> </a:t>
            </a:r>
            <a:r>
              <a:rPr sz="1400" dirty="0" err="1"/>
              <a:t>creciente</a:t>
            </a:r>
            <a:r>
              <a:rPr sz="1400" dirty="0"/>
              <a:t> </a:t>
            </a:r>
            <a:r>
              <a:rPr sz="1400" dirty="0" err="1"/>
              <a:t>insatisfacción</a:t>
            </a:r>
            <a:r>
              <a:rPr sz="1400" dirty="0"/>
              <a:t> </a:t>
            </a:r>
            <a:r>
              <a:rPr sz="1400" dirty="0" err="1"/>
              <a:t>ciudadana</a:t>
            </a:r>
            <a:r>
              <a:rPr sz="1400" dirty="0"/>
              <a:t> con </a:t>
            </a:r>
            <a:r>
              <a:rPr sz="1400" dirty="0" err="1"/>
              <a:t>su</a:t>
            </a:r>
            <a:r>
              <a:rPr sz="1400" dirty="0"/>
              <a:t> </a:t>
            </a:r>
            <a:r>
              <a:rPr sz="1400" dirty="0" err="1"/>
              <a:t>funcionamiento</a:t>
            </a:r>
            <a:r>
              <a:rPr sz="1400" dirty="0"/>
              <a:t>. En </a:t>
            </a:r>
            <a:r>
              <a:rPr sz="1400" dirty="0" err="1"/>
              <a:t>este</a:t>
            </a:r>
            <a:r>
              <a:rPr sz="1400" dirty="0"/>
              <a:t> </a:t>
            </a:r>
            <a:r>
              <a:rPr sz="1400" dirty="0" err="1"/>
              <a:t>contexto</a:t>
            </a:r>
            <a:r>
              <a:rPr sz="1400" dirty="0"/>
              <a:t>, </a:t>
            </a:r>
            <a:r>
              <a:rPr sz="1400" dirty="0" err="1"/>
              <a:t>resulta</a:t>
            </a:r>
            <a:r>
              <a:rPr sz="1400" dirty="0"/>
              <a:t> </a:t>
            </a:r>
            <a:r>
              <a:rPr sz="1400" dirty="0" err="1"/>
              <a:t>relevante</a:t>
            </a:r>
            <a:r>
              <a:rPr sz="1400" dirty="0"/>
              <a:t> </a:t>
            </a:r>
            <a:r>
              <a:rPr sz="1400" dirty="0" err="1"/>
              <a:t>analizar</a:t>
            </a:r>
            <a:r>
              <a:rPr sz="1400" dirty="0"/>
              <a:t> </a:t>
            </a:r>
            <a:r>
              <a:rPr sz="1400" dirty="0" err="1"/>
              <a:t>cómo</a:t>
            </a:r>
            <a:r>
              <a:rPr sz="1400" dirty="0"/>
              <a:t> se </a:t>
            </a:r>
            <a:r>
              <a:rPr sz="1400" dirty="0" err="1"/>
              <a:t>distribuye</a:t>
            </a:r>
            <a:r>
              <a:rPr sz="1400" dirty="0"/>
              <a:t> la </a:t>
            </a:r>
            <a:r>
              <a:rPr sz="1400" dirty="0" err="1"/>
              <a:t>satisfacción</a:t>
            </a:r>
            <a:r>
              <a:rPr sz="1400" dirty="0"/>
              <a:t> con la </a:t>
            </a:r>
            <a:r>
              <a:rPr sz="1400" dirty="0" err="1"/>
              <a:t>democracia</a:t>
            </a:r>
            <a:r>
              <a:rPr sz="1400" dirty="0"/>
              <a:t> </a:t>
            </a:r>
            <a:r>
              <a:rPr sz="1400" dirty="0" err="1"/>
              <a:t>en</a:t>
            </a:r>
            <a:r>
              <a:rPr sz="1400" dirty="0"/>
              <a:t> Argentina </a:t>
            </a:r>
            <a:r>
              <a:rPr sz="1400" dirty="0" err="1"/>
              <a:t>durante</a:t>
            </a:r>
            <a:r>
              <a:rPr sz="1400" dirty="0"/>
              <a:t> 2023 y de </a:t>
            </a:r>
            <a:r>
              <a:rPr sz="1400" dirty="0" err="1"/>
              <a:t>qué</a:t>
            </a:r>
            <a:r>
              <a:rPr sz="1400" dirty="0"/>
              <a:t> </a:t>
            </a:r>
            <a:r>
              <a:rPr sz="1400" dirty="0" err="1"/>
              <a:t>manera</a:t>
            </a:r>
            <a:r>
              <a:rPr sz="1400" dirty="0"/>
              <a:t> </a:t>
            </a:r>
            <a:r>
              <a:rPr sz="1400" dirty="0" err="1"/>
              <a:t>esta</a:t>
            </a:r>
            <a:r>
              <a:rPr sz="1400" dirty="0"/>
              <a:t> </a:t>
            </a:r>
            <a:r>
              <a:rPr sz="1400" dirty="0" err="1"/>
              <a:t>varía</a:t>
            </a:r>
            <a:r>
              <a:rPr sz="1400" dirty="0"/>
              <a:t> </a:t>
            </a:r>
            <a:r>
              <a:rPr sz="1400" dirty="0" err="1"/>
              <a:t>según</a:t>
            </a:r>
            <a:r>
              <a:rPr sz="1400" dirty="0"/>
              <a:t> </a:t>
            </a:r>
            <a:r>
              <a:rPr sz="1400" dirty="0" err="1"/>
              <a:t>características</a:t>
            </a:r>
            <a:r>
              <a:rPr sz="1400" dirty="0"/>
              <a:t> </a:t>
            </a:r>
            <a:r>
              <a:rPr sz="1400" dirty="0" err="1"/>
              <a:t>sociodemográficas</a:t>
            </a:r>
            <a:r>
              <a:rPr sz="1400" dirty="0"/>
              <a:t> de la población.</a:t>
            </a:r>
          </a:p>
          <a:p>
            <a:pPr marL="0" lvl="0" indent="0">
              <a:buNone/>
            </a:pPr>
            <a:r>
              <a:rPr sz="1400" dirty="0"/>
              <a:t>La </a:t>
            </a:r>
            <a:r>
              <a:rPr sz="1400" dirty="0" err="1"/>
              <a:t>satisfacción</a:t>
            </a:r>
            <a:r>
              <a:rPr sz="1400" dirty="0"/>
              <a:t> con la </a:t>
            </a:r>
            <a:r>
              <a:rPr sz="1400" dirty="0" err="1"/>
              <a:t>democracia</a:t>
            </a:r>
            <a:r>
              <a:rPr sz="1400" dirty="0"/>
              <a:t> </a:t>
            </a:r>
            <a:r>
              <a:rPr sz="1400" dirty="0" err="1"/>
              <a:t>constituye</a:t>
            </a:r>
            <a:r>
              <a:rPr sz="1400" dirty="0"/>
              <a:t> un </a:t>
            </a:r>
            <a:r>
              <a:rPr sz="1400" dirty="0" err="1"/>
              <a:t>indicador</a:t>
            </a:r>
            <a:r>
              <a:rPr sz="1400" dirty="0"/>
              <a:t> </a:t>
            </a:r>
            <a:r>
              <a:rPr sz="1400" dirty="0" err="1"/>
              <a:t>relevante</a:t>
            </a:r>
            <a:r>
              <a:rPr sz="1400" dirty="0"/>
              <a:t> para </a:t>
            </a:r>
            <a:r>
              <a:rPr sz="1400" dirty="0" err="1"/>
              <a:t>comprender</a:t>
            </a:r>
            <a:r>
              <a:rPr sz="1400" dirty="0"/>
              <a:t> </a:t>
            </a:r>
            <a:r>
              <a:rPr sz="1400" dirty="0" err="1"/>
              <a:t>el</a:t>
            </a:r>
            <a:r>
              <a:rPr sz="1400" dirty="0"/>
              <a:t> </a:t>
            </a:r>
            <a:r>
              <a:rPr sz="1400" dirty="0" err="1"/>
              <a:t>contexto</a:t>
            </a:r>
            <a:r>
              <a:rPr sz="1400" dirty="0"/>
              <a:t> </a:t>
            </a:r>
            <a:r>
              <a:rPr sz="1400" dirty="0" err="1"/>
              <a:t>sociopolítico</a:t>
            </a:r>
            <a:r>
              <a:rPr sz="1400" dirty="0"/>
              <a:t> </a:t>
            </a:r>
            <a:r>
              <a:rPr sz="1400" dirty="0" err="1"/>
              <a:t>en</a:t>
            </a:r>
            <a:r>
              <a:rPr sz="1400" dirty="0"/>
              <a:t> </a:t>
            </a:r>
            <a:r>
              <a:rPr sz="1400" dirty="0" err="1"/>
              <a:t>el</a:t>
            </a:r>
            <a:r>
              <a:rPr sz="1400" dirty="0"/>
              <a:t> </a:t>
            </a:r>
            <a:r>
              <a:rPr sz="1400" dirty="0" err="1"/>
              <a:t>que</a:t>
            </a:r>
            <a:r>
              <a:rPr sz="1400" dirty="0"/>
              <a:t> </a:t>
            </a:r>
            <a:r>
              <a:rPr sz="1400" dirty="0" err="1"/>
              <a:t>emergen</a:t>
            </a:r>
            <a:r>
              <a:rPr sz="1400" dirty="0"/>
              <a:t> </a:t>
            </a:r>
            <a:r>
              <a:rPr sz="1400" dirty="0" err="1"/>
              <a:t>discursos</a:t>
            </a:r>
            <a:r>
              <a:rPr sz="1400" dirty="0"/>
              <a:t> </a:t>
            </a:r>
            <a:r>
              <a:rPr sz="1400" dirty="0" err="1"/>
              <a:t>antisistema</a:t>
            </a:r>
            <a:r>
              <a:rPr sz="1400" dirty="0"/>
              <a:t> y </a:t>
            </a:r>
            <a:r>
              <a:rPr sz="1400" dirty="0" err="1"/>
              <a:t>liderazgos</a:t>
            </a:r>
            <a:r>
              <a:rPr sz="1400" dirty="0"/>
              <a:t> </a:t>
            </a:r>
            <a:r>
              <a:rPr sz="1400" dirty="0" err="1"/>
              <a:t>críticos</a:t>
            </a:r>
            <a:r>
              <a:rPr sz="1400" dirty="0"/>
              <a:t> de las </a:t>
            </a:r>
            <a:r>
              <a:rPr sz="1400" dirty="0" err="1"/>
              <a:t>instituciones</a:t>
            </a:r>
            <a:r>
              <a:rPr sz="1400" dirty="0"/>
              <a:t> </a:t>
            </a:r>
            <a:r>
              <a:rPr sz="1400" dirty="0" err="1"/>
              <a:t>democráticas</a:t>
            </a:r>
            <a:r>
              <a:rPr sz="1400" dirty="0"/>
              <a:t> </a:t>
            </a:r>
            <a:r>
              <a:rPr sz="1400" dirty="0" err="1"/>
              <a:t>tradicionales</a:t>
            </a:r>
            <a:r>
              <a:rPr sz="1400" dirty="0"/>
              <a:t>, </a:t>
            </a:r>
            <a:r>
              <a:rPr sz="1400" dirty="0" err="1"/>
              <a:t>como</a:t>
            </a:r>
            <a:r>
              <a:rPr sz="1400" dirty="0"/>
              <a:t> </a:t>
            </a:r>
            <a:r>
              <a:rPr sz="1400" dirty="0" err="1"/>
              <a:t>el</a:t>
            </a:r>
            <a:r>
              <a:rPr sz="1400" dirty="0"/>
              <a:t> de Javier Milei.</a:t>
            </a:r>
          </a:p>
          <a:p>
            <a:pPr marL="0" lvl="0" indent="0">
              <a:spcBef>
                <a:spcPts val="3000"/>
              </a:spcBef>
              <a:buNone/>
            </a:pPr>
            <a:r>
              <a:rPr sz="1400" b="1" dirty="0" err="1"/>
              <a:t>Justificación</a:t>
            </a:r>
            <a:endParaRPr sz="1400" b="1" dirty="0"/>
          </a:p>
          <a:p>
            <a:pPr marL="0" lvl="0" indent="0">
              <a:buNone/>
            </a:pPr>
            <a:r>
              <a:rPr sz="1400" dirty="0"/>
              <a:t>La </a:t>
            </a:r>
            <a:r>
              <a:rPr sz="1400" dirty="0" err="1"/>
              <a:t>relevancia</a:t>
            </a:r>
            <a:r>
              <a:rPr sz="1400" dirty="0"/>
              <a:t> de </a:t>
            </a:r>
            <a:r>
              <a:rPr sz="1400" dirty="0" err="1"/>
              <a:t>esta</a:t>
            </a:r>
            <a:r>
              <a:rPr sz="1400" dirty="0"/>
              <a:t> </a:t>
            </a:r>
            <a:r>
              <a:rPr sz="1400" dirty="0" err="1"/>
              <a:t>investigación</a:t>
            </a:r>
            <a:r>
              <a:rPr sz="1400" dirty="0"/>
              <a:t> </a:t>
            </a:r>
            <a:r>
              <a:rPr sz="1400" dirty="0" err="1"/>
              <a:t>radica</a:t>
            </a:r>
            <a:r>
              <a:rPr sz="1400" dirty="0"/>
              <a:t> </a:t>
            </a:r>
            <a:r>
              <a:rPr sz="1400" dirty="0" err="1"/>
              <a:t>en</a:t>
            </a:r>
            <a:r>
              <a:rPr sz="1400" dirty="0"/>
              <a:t> </a:t>
            </a:r>
            <a:r>
              <a:rPr sz="1400" dirty="0" err="1"/>
              <a:t>comprender</a:t>
            </a:r>
            <a:r>
              <a:rPr sz="1400" dirty="0"/>
              <a:t> </a:t>
            </a:r>
            <a:r>
              <a:rPr sz="1400" dirty="0" err="1"/>
              <a:t>cómo</a:t>
            </a:r>
            <a:r>
              <a:rPr sz="1400" dirty="0"/>
              <a:t> </a:t>
            </a:r>
            <a:r>
              <a:rPr sz="1400" dirty="0" err="1"/>
              <a:t>distintos</a:t>
            </a:r>
            <a:r>
              <a:rPr sz="1400" dirty="0"/>
              <a:t> </a:t>
            </a:r>
            <a:r>
              <a:rPr sz="1400" dirty="0" err="1"/>
              <a:t>sectores</a:t>
            </a:r>
            <a:r>
              <a:rPr sz="1400" dirty="0"/>
              <a:t> de la población </a:t>
            </a:r>
            <a:r>
              <a:rPr sz="1400" dirty="0" err="1"/>
              <a:t>argentina</a:t>
            </a:r>
            <a:r>
              <a:rPr sz="1400" dirty="0"/>
              <a:t> </a:t>
            </a:r>
            <a:r>
              <a:rPr sz="1400" dirty="0" err="1"/>
              <a:t>evalúan</a:t>
            </a:r>
            <a:r>
              <a:rPr sz="1400" dirty="0"/>
              <a:t> </a:t>
            </a:r>
            <a:r>
              <a:rPr sz="1400" dirty="0" err="1"/>
              <a:t>el</a:t>
            </a:r>
            <a:r>
              <a:rPr sz="1400" dirty="0"/>
              <a:t> </a:t>
            </a:r>
            <a:r>
              <a:rPr sz="1400" dirty="0" err="1"/>
              <a:t>funcionamiento</a:t>
            </a:r>
            <a:r>
              <a:rPr sz="1400" dirty="0"/>
              <a:t> de la </a:t>
            </a:r>
            <a:r>
              <a:rPr sz="1400" dirty="0" err="1"/>
              <a:t>democracia</a:t>
            </a:r>
            <a:r>
              <a:rPr sz="1400" dirty="0"/>
              <a:t> </a:t>
            </a:r>
            <a:r>
              <a:rPr sz="1400" dirty="0" err="1"/>
              <a:t>en</a:t>
            </a:r>
            <a:r>
              <a:rPr sz="1400" dirty="0"/>
              <a:t> un </a:t>
            </a:r>
            <a:r>
              <a:rPr sz="1400" dirty="0" err="1"/>
              <a:t>contexto</a:t>
            </a:r>
            <a:r>
              <a:rPr sz="1400" dirty="0"/>
              <a:t> </a:t>
            </a:r>
            <a:r>
              <a:rPr sz="1400" dirty="0" err="1"/>
              <a:t>marcado</a:t>
            </a:r>
            <a:r>
              <a:rPr sz="1400" dirty="0"/>
              <a:t> </a:t>
            </a:r>
            <a:r>
              <a:rPr sz="1400" dirty="0" err="1"/>
              <a:t>por</a:t>
            </a:r>
            <a:r>
              <a:rPr sz="1400" dirty="0"/>
              <a:t> crisis </a:t>
            </a:r>
            <a:r>
              <a:rPr sz="1400" dirty="0" err="1"/>
              <a:t>económicas</a:t>
            </a:r>
            <a:r>
              <a:rPr sz="1400" dirty="0"/>
              <a:t> </a:t>
            </a:r>
            <a:r>
              <a:rPr sz="1400" dirty="0" err="1"/>
              <a:t>recurrentes</a:t>
            </a:r>
            <a:r>
              <a:rPr sz="1400" dirty="0"/>
              <a:t>, </a:t>
            </a:r>
            <a:r>
              <a:rPr sz="1400" dirty="0" err="1"/>
              <a:t>inflación</a:t>
            </a:r>
            <a:r>
              <a:rPr sz="1400" dirty="0"/>
              <a:t> </a:t>
            </a:r>
            <a:r>
              <a:rPr sz="1400" dirty="0" err="1"/>
              <a:t>sostenida</a:t>
            </a:r>
            <a:r>
              <a:rPr sz="1400" dirty="0"/>
              <a:t>, </a:t>
            </a:r>
            <a:r>
              <a:rPr sz="1400" dirty="0" err="1"/>
              <a:t>incertidumbre</a:t>
            </a:r>
            <a:r>
              <a:rPr sz="1400" dirty="0"/>
              <a:t> social y </a:t>
            </a:r>
            <a:r>
              <a:rPr sz="1400" dirty="0" err="1"/>
              <a:t>creciente</a:t>
            </a:r>
            <a:r>
              <a:rPr sz="1400" dirty="0"/>
              <a:t> </a:t>
            </a:r>
            <a:r>
              <a:rPr sz="1400" dirty="0" err="1"/>
              <a:t>desafección</a:t>
            </a:r>
            <a:r>
              <a:rPr sz="1400" dirty="0"/>
              <a:t> </a:t>
            </a:r>
            <a:r>
              <a:rPr sz="1400" dirty="0" err="1"/>
              <a:t>política</a:t>
            </a:r>
            <a:r>
              <a:rPr sz="1400" dirty="0"/>
              <a:t>.</a:t>
            </a:r>
          </a:p>
          <a:p>
            <a:pPr marL="0" lvl="0" indent="0">
              <a:buNone/>
            </a:pPr>
            <a:r>
              <a:rPr sz="1400" dirty="0"/>
              <a:t>Para </a:t>
            </a:r>
            <a:r>
              <a:rPr sz="1400" dirty="0" err="1"/>
              <a:t>ello</a:t>
            </a:r>
            <a:r>
              <a:rPr sz="1400" dirty="0"/>
              <a:t>, se </a:t>
            </a:r>
            <a:r>
              <a:rPr sz="1400" dirty="0" err="1"/>
              <a:t>analizarán</a:t>
            </a:r>
            <a:r>
              <a:rPr sz="1400" dirty="0"/>
              <a:t> </a:t>
            </a:r>
            <a:r>
              <a:rPr sz="1400" dirty="0" err="1"/>
              <a:t>datos</a:t>
            </a:r>
            <a:r>
              <a:rPr sz="1400" dirty="0"/>
              <a:t> del </a:t>
            </a:r>
            <a:r>
              <a:rPr sz="1400" dirty="0" err="1"/>
              <a:t>Latinobarómetro</a:t>
            </a:r>
            <a:r>
              <a:rPr sz="1400" dirty="0"/>
              <a:t> 2023, </a:t>
            </a:r>
            <a:r>
              <a:rPr sz="1400" dirty="0" err="1"/>
              <a:t>debido</a:t>
            </a:r>
            <a:r>
              <a:rPr sz="1400" dirty="0"/>
              <a:t> a </a:t>
            </a:r>
            <a:r>
              <a:rPr sz="1400" dirty="0" err="1"/>
              <a:t>que</a:t>
            </a:r>
            <a:r>
              <a:rPr sz="1400" dirty="0"/>
              <a:t> </a:t>
            </a:r>
            <a:r>
              <a:rPr sz="1400" dirty="0" err="1"/>
              <a:t>este</a:t>
            </a:r>
            <a:r>
              <a:rPr sz="1400" dirty="0"/>
              <a:t> </a:t>
            </a:r>
            <a:r>
              <a:rPr sz="1400" dirty="0" err="1"/>
              <a:t>periodo</a:t>
            </a:r>
            <a:r>
              <a:rPr sz="1400" dirty="0"/>
              <a:t> </a:t>
            </a:r>
            <a:r>
              <a:rPr sz="1400" dirty="0" err="1"/>
              <a:t>concentra</a:t>
            </a:r>
            <a:r>
              <a:rPr sz="1400" dirty="0"/>
              <a:t> </a:t>
            </a:r>
            <a:r>
              <a:rPr sz="1400" dirty="0" err="1"/>
              <a:t>transformaciones</a:t>
            </a:r>
            <a:r>
              <a:rPr sz="1400" dirty="0"/>
              <a:t> </a:t>
            </a:r>
            <a:r>
              <a:rPr sz="1400" dirty="0" err="1"/>
              <a:t>políticas</a:t>
            </a:r>
            <a:r>
              <a:rPr sz="1400" dirty="0"/>
              <a:t> y </a:t>
            </a:r>
            <a:r>
              <a:rPr sz="1400" dirty="0" err="1"/>
              <a:t>sociales</a:t>
            </a:r>
            <a:r>
              <a:rPr sz="1400" dirty="0"/>
              <a:t> </a:t>
            </a:r>
            <a:r>
              <a:rPr sz="1400" dirty="0" err="1"/>
              <a:t>relevantes</a:t>
            </a:r>
            <a:r>
              <a:rPr sz="1400" dirty="0"/>
              <a:t> para </a:t>
            </a:r>
            <a:r>
              <a:rPr sz="1400" dirty="0" err="1"/>
              <a:t>observar</a:t>
            </a:r>
            <a:r>
              <a:rPr sz="1400" dirty="0"/>
              <a:t> las </a:t>
            </a:r>
            <a:r>
              <a:rPr sz="1400" dirty="0" err="1"/>
              <a:t>percepciones</a:t>
            </a:r>
            <a:r>
              <a:rPr sz="1400" dirty="0"/>
              <a:t> </a:t>
            </a:r>
            <a:r>
              <a:rPr sz="1400" dirty="0" err="1"/>
              <a:t>ciudadanas</a:t>
            </a:r>
            <a:r>
              <a:rPr sz="1400" dirty="0"/>
              <a:t> </a:t>
            </a:r>
            <a:r>
              <a:rPr sz="1400" dirty="0" err="1"/>
              <a:t>sobre</a:t>
            </a:r>
            <a:r>
              <a:rPr sz="1400" dirty="0"/>
              <a:t> la </a:t>
            </a:r>
            <a:r>
              <a:rPr sz="1400" dirty="0" err="1"/>
              <a:t>democracia</a:t>
            </a:r>
            <a:r>
              <a:rPr sz="1400" dirty="0"/>
              <a:t> </a:t>
            </a:r>
            <a:r>
              <a:rPr sz="1400" dirty="0" err="1"/>
              <a:t>en</a:t>
            </a:r>
            <a:r>
              <a:rPr sz="1400" dirty="0"/>
              <a:t> Argentina.(“El </a:t>
            </a:r>
            <a:r>
              <a:rPr sz="1400" dirty="0" err="1"/>
              <a:t>ascenso</a:t>
            </a:r>
            <a:r>
              <a:rPr sz="1400" dirty="0"/>
              <a:t> de Milei </a:t>
            </a:r>
            <a:r>
              <a:rPr sz="1400" dirty="0" err="1"/>
              <a:t>en</a:t>
            </a:r>
            <a:r>
              <a:rPr sz="1400" dirty="0"/>
              <a:t> Argentina y las </a:t>
            </a:r>
            <a:r>
              <a:rPr sz="1400" dirty="0" err="1"/>
              <a:t>nuevas</a:t>
            </a:r>
            <a:r>
              <a:rPr sz="1400" dirty="0"/>
              <a:t> </a:t>
            </a:r>
            <a:r>
              <a:rPr sz="1400" dirty="0" err="1"/>
              <a:t>extremas</a:t>
            </a:r>
            <a:r>
              <a:rPr sz="1400" dirty="0"/>
              <a:t> </a:t>
            </a:r>
            <a:r>
              <a:rPr sz="1400" dirty="0" err="1"/>
              <a:t>derechas</a:t>
            </a:r>
            <a:r>
              <a:rPr sz="1400" dirty="0"/>
              <a:t> de América Latina*,” n.d.)</a:t>
            </a:r>
          </a:p>
          <a:p>
            <a:pPr marL="0" lvl="0" indent="0">
              <a:spcBef>
                <a:spcPts val="3000"/>
              </a:spcBef>
              <a:buNone/>
            </a:pPr>
            <a:endParaRPr sz="1400" dirty="0"/>
          </a:p>
        </p:txBody>
      </p:sp>
      <p:sp>
        <p:nvSpPr>
          <p:cNvPr id="3" name="Marcador de contenido 2">
            <a:extLst>
              <a:ext uri="{FF2B5EF4-FFF2-40B4-BE49-F238E27FC236}">
                <a16:creationId xmlns:a16="http://schemas.microsoft.com/office/drawing/2014/main" id="{4D6D91DE-4352-2BCF-001B-961E12C6B01D}"/>
              </a:ext>
            </a:extLst>
          </p:cNvPr>
          <p:cNvSpPr>
            <a:spLocks noGrp="1"/>
          </p:cNvSpPr>
          <p:nvPr>
            <p:ph idx="1"/>
          </p:nvPr>
        </p:nvSpPr>
        <p:spPr/>
        <p:txBody>
          <a:bodyPr/>
          <a:lstStyle/>
          <a:p>
            <a:endParaRPr lang="es-CL"/>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E891E19-8A5F-DBF1-F5BA-410E231F1359}"/>
              </a:ext>
            </a:extLst>
          </p:cNvPr>
          <p:cNvSpPr txBox="1"/>
          <p:nvPr/>
        </p:nvSpPr>
        <p:spPr>
          <a:xfrm>
            <a:off x="783773" y="849490"/>
            <a:ext cx="7111092" cy="3662541"/>
          </a:xfrm>
          <a:prstGeom prst="rect">
            <a:avLst/>
          </a:prstGeom>
          <a:noFill/>
        </p:spPr>
        <p:txBody>
          <a:bodyPr wrap="square">
            <a:spAutoFit/>
          </a:bodyPr>
          <a:lstStyle/>
          <a:p>
            <a:pPr marL="0" lvl="0" indent="0">
              <a:spcBef>
                <a:spcPts val="3000"/>
              </a:spcBef>
              <a:buNone/>
            </a:pPr>
            <a:r>
              <a:rPr lang="es-ES" sz="1400" b="1" dirty="0"/>
              <a:t>Pregunta de </a:t>
            </a:r>
            <a:r>
              <a:rPr lang="es-ES" sz="1400" b="1" dirty="0" err="1"/>
              <a:t>investigacion</a:t>
            </a:r>
            <a:endParaRPr lang="es-ES" sz="1400" b="1" dirty="0"/>
          </a:p>
          <a:p>
            <a:pPr marL="0" lvl="0" indent="0">
              <a:buNone/>
            </a:pPr>
            <a:r>
              <a:rPr lang="es-ES" sz="1400" dirty="0"/>
              <a:t>¿Cómo se distribuye la satisfacción con la democracia según variables sociodemográficas (edad, sexo y nivel educativo) en Argentina (2023)?</a:t>
            </a:r>
          </a:p>
          <a:p>
            <a:pPr marL="0" lvl="0" indent="0">
              <a:spcBef>
                <a:spcPts val="3000"/>
              </a:spcBef>
              <a:buNone/>
            </a:pPr>
            <a:r>
              <a:rPr lang="es-ES" sz="1400" b="1" dirty="0" err="1"/>
              <a:t>Hipotesis</a:t>
            </a:r>
            <a:endParaRPr lang="es-ES" sz="1400" b="1" dirty="0"/>
          </a:p>
          <a:p>
            <a:pPr marL="0" lvl="0" indent="0">
              <a:buNone/>
            </a:pPr>
            <a:r>
              <a:rPr lang="es-ES" sz="1400" dirty="0"/>
              <a:t>La satisfacción con la democracia se distribuye de manera diferenciada según variables sociodemográficas (edad, sexo y nivel educativo) en Argentina (2023).</a:t>
            </a:r>
          </a:p>
          <a:p>
            <a:pPr marL="0" lvl="0" indent="0">
              <a:spcBef>
                <a:spcPts val="3000"/>
              </a:spcBef>
              <a:buNone/>
            </a:pPr>
            <a:r>
              <a:rPr lang="es-ES" sz="1400" b="1" dirty="0"/>
              <a:t>Variables</a:t>
            </a:r>
          </a:p>
          <a:p>
            <a:pPr marL="0" lvl="0" indent="0">
              <a:buNone/>
            </a:pPr>
            <a:r>
              <a:rPr lang="es-ES" sz="1400" dirty="0"/>
              <a:t>A partir de la retroalimentación recibida en la última entrega, se decidió ajustar la operacionalización de las variables con el fin de fortalecer la coherencia entre la pregunta de investigación, las variables analizadas y las técnicas estadísticas utilizadas. En consecuencia, se optó por mantener únicamente las variables que responden de manera directa al objetivo del estudio: edad, sexo y nivel educativo como variables independientes, y satisfacción con la democracia como variable dependiente.</a:t>
            </a:r>
          </a:p>
        </p:txBody>
      </p:sp>
    </p:spTree>
    <p:extLst>
      <p:ext uri="{BB962C8B-B14F-4D97-AF65-F5344CB8AC3E}">
        <p14:creationId xmlns:p14="http://schemas.microsoft.com/office/powerpoint/2010/main" val="3033524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1B1CCC1E-3D90-070D-D965-C846E49E7330}"/>
              </a:ext>
            </a:extLst>
          </p:cNvPr>
          <p:cNvGraphicFramePr>
            <a:graphicFrameLocks/>
          </p:cNvGraphicFramePr>
          <p:nvPr>
            <p:extLst>
              <p:ext uri="{D42A27DB-BD31-4B8C-83A1-F6EECF244321}">
                <p14:modId xmlns:p14="http://schemas.microsoft.com/office/powerpoint/2010/main" val="1572522384"/>
              </p:ext>
            </p:extLst>
          </p:nvPr>
        </p:nvGraphicFramePr>
        <p:xfrm>
          <a:off x="1216479" y="1061358"/>
          <a:ext cx="6711042" cy="2179864"/>
        </p:xfrm>
        <a:graphic>
          <a:graphicData uri="http://schemas.openxmlformats.org/drawingml/2006/table">
            <a:tbl>
              <a:tblPr firstRow="1" bandRow="1">
                <a:tableStyleId>{5C22544A-7EE6-4342-B048-85BDC9FD1C3A}</a:tableStyleId>
              </a:tblPr>
              <a:tblGrid>
                <a:gridCol w="1118507">
                  <a:extLst>
                    <a:ext uri="{9D8B030D-6E8A-4147-A177-3AD203B41FA5}">
                      <a16:colId xmlns:a16="http://schemas.microsoft.com/office/drawing/2014/main" val="20000"/>
                    </a:ext>
                  </a:extLst>
                </a:gridCol>
                <a:gridCol w="1118507">
                  <a:extLst>
                    <a:ext uri="{9D8B030D-6E8A-4147-A177-3AD203B41FA5}">
                      <a16:colId xmlns:a16="http://schemas.microsoft.com/office/drawing/2014/main" val="20001"/>
                    </a:ext>
                  </a:extLst>
                </a:gridCol>
                <a:gridCol w="1118507">
                  <a:extLst>
                    <a:ext uri="{9D8B030D-6E8A-4147-A177-3AD203B41FA5}">
                      <a16:colId xmlns:a16="http://schemas.microsoft.com/office/drawing/2014/main" val="20002"/>
                    </a:ext>
                  </a:extLst>
                </a:gridCol>
                <a:gridCol w="1118507">
                  <a:extLst>
                    <a:ext uri="{9D8B030D-6E8A-4147-A177-3AD203B41FA5}">
                      <a16:colId xmlns:a16="http://schemas.microsoft.com/office/drawing/2014/main" val="20003"/>
                    </a:ext>
                  </a:extLst>
                </a:gridCol>
                <a:gridCol w="1118507">
                  <a:extLst>
                    <a:ext uri="{9D8B030D-6E8A-4147-A177-3AD203B41FA5}">
                      <a16:colId xmlns:a16="http://schemas.microsoft.com/office/drawing/2014/main" val="20004"/>
                    </a:ext>
                  </a:extLst>
                </a:gridCol>
                <a:gridCol w="1118507">
                  <a:extLst>
                    <a:ext uri="{9D8B030D-6E8A-4147-A177-3AD203B41FA5}">
                      <a16:colId xmlns:a16="http://schemas.microsoft.com/office/drawing/2014/main" val="20005"/>
                    </a:ext>
                  </a:extLst>
                </a:gridCol>
              </a:tblGrid>
              <a:tr h="497162">
                <a:tc>
                  <a:txBody>
                    <a:bodyPr/>
                    <a:lstStyle/>
                    <a:p>
                      <a:pPr marL="0" lvl="0" indent="0" algn="l">
                        <a:buNone/>
                      </a:pPr>
                      <a:r>
                        <a:t>var</a:t>
                      </a:r>
                    </a:p>
                  </a:txBody>
                  <a:tcPr/>
                </a:tc>
                <a:tc>
                  <a:txBody>
                    <a:bodyPr/>
                    <a:lstStyle/>
                    <a:p>
                      <a:pPr marL="0" lvl="0" indent="0" algn="r">
                        <a:buNone/>
                      </a:pPr>
                      <a:r>
                        <a:t>n</a:t>
                      </a:r>
                    </a:p>
                  </a:txBody>
                  <a:tcPr/>
                </a:tc>
                <a:tc>
                  <a:txBody>
                    <a:bodyPr/>
                    <a:lstStyle/>
                    <a:p>
                      <a:pPr marL="0" lvl="0" indent="0" algn="r">
                        <a:buNone/>
                      </a:pPr>
                      <a:r>
                        <a:t>NA.prc</a:t>
                      </a:r>
                    </a:p>
                  </a:txBody>
                  <a:tcPr/>
                </a:tc>
                <a:tc>
                  <a:txBody>
                    <a:bodyPr/>
                    <a:lstStyle/>
                    <a:p>
                      <a:pPr marL="0" lvl="0" indent="0" algn="r">
                        <a:buNone/>
                      </a:pPr>
                      <a:r>
                        <a:t>mean</a:t>
                      </a:r>
                    </a:p>
                  </a:txBody>
                  <a:tcPr/>
                </a:tc>
                <a:tc>
                  <a:txBody>
                    <a:bodyPr/>
                    <a:lstStyle/>
                    <a:p>
                      <a:pPr marL="0" lvl="0" indent="0" algn="r">
                        <a:buNone/>
                      </a:pPr>
                      <a:r>
                        <a:t>sd</a:t>
                      </a:r>
                    </a:p>
                  </a:txBody>
                  <a:tcPr/>
                </a:tc>
                <a:tc>
                  <a:txBody>
                    <a:bodyPr/>
                    <a:lstStyle/>
                    <a:p>
                      <a:pPr marL="0" lvl="0" indent="0" algn="l">
                        <a:buNone/>
                      </a:pPr>
                      <a:r>
                        <a:t>range</a:t>
                      </a:r>
                    </a:p>
                  </a:txBody>
                  <a:tcPr/>
                </a:tc>
                <a:extLst>
                  <a:ext uri="{0D108BD9-81ED-4DB2-BD59-A6C34878D82A}">
                    <a16:rowId xmlns:a16="http://schemas.microsoft.com/office/drawing/2014/main" val="10000"/>
                  </a:ext>
                </a:extLst>
              </a:tr>
              <a:tr h="841351">
                <a:tc>
                  <a:txBody>
                    <a:bodyPr/>
                    <a:lstStyle/>
                    <a:p>
                      <a:pPr marL="0" lvl="0" indent="0" algn="l">
                        <a:buNone/>
                      </a:pPr>
                      <a:r>
                        <a:t>edad</a:t>
                      </a:r>
                    </a:p>
                  </a:txBody>
                  <a:tcPr/>
                </a:tc>
                <a:tc>
                  <a:txBody>
                    <a:bodyPr/>
                    <a:lstStyle/>
                    <a:p>
                      <a:pPr marL="0" lvl="0" indent="0" algn="r">
                        <a:buNone/>
                      </a:pPr>
                      <a:r>
                        <a:t>1174</a:t>
                      </a:r>
                    </a:p>
                  </a:txBody>
                  <a:tcPr/>
                </a:tc>
                <a:tc>
                  <a:txBody>
                    <a:bodyPr/>
                    <a:lstStyle/>
                    <a:p>
                      <a:pPr marL="0" lvl="0" indent="0" algn="r">
                        <a:buNone/>
                      </a:pPr>
                      <a:r>
                        <a:t>0</a:t>
                      </a:r>
                    </a:p>
                  </a:txBody>
                  <a:tcPr/>
                </a:tc>
                <a:tc>
                  <a:txBody>
                    <a:bodyPr/>
                    <a:lstStyle/>
                    <a:p>
                      <a:pPr marL="0" lvl="0" indent="0" algn="r">
                        <a:buNone/>
                      </a:pPr>
                      <a:r>
                        <a:t>42.94378</a:t>
                      </a:r>
                    </a:p>
                  </a:txBody>
                  <a:tcPr/>
                </a:tc>
                <a:tc>
                  <a:txBody>
                    <a:bodyPr/>
                    <a:lstStyle/>
                    <a:p>
                      <a:pPr marL="0" lvl="0" indent="0" algn="r">
                        <a:buNone/>
                      </a:pPr>
                      <a:r>
                        <a:t>16.929277</a:t>
                      </a:r>
                    </a:p>
                  </a:txBody>
                  <a:tcPr/>
                </a:tc>
                <a:tc>
                  <a:txBody>
                    <a:bodyPr/>
                    <a:lstStyle/>
                    <a:p>
                      <a:pPr marL="0" lvl="0" indent="0" algn="l">
                        <a:buNone/>
                      </a:pPr>
                      <a:r>
                        <a:t>72 (18-90)</a:t>
                      </a:r>
                    </a:p>
                  </a:txBody>
                  <a:tcPr/>
                </a:tc>
                <a:extLst>
                  <a:ext uri="{0D108BD9-81ED-4DB2-BD59-A6C34878D82A}">
                    <a16:rowId xmlns:a16="http://schemas.microsoft.com/office/drawing/2014/main" val="10001"/>
                  </a:ext>
                </a:extLst>
              </a:tr>
              <a:tr h="841351">
                <a:tc>
                  <a:txBody>
                    <a:bodyPr/>
                    <a:lstStyle/>
                    <a:p>
                      <a:pPr marL="0" lvl="0" indent="0" algn="l">
                        <a:buNone/>
                      </a:pPr>
                      <a:r>
                        <a:t>nivel_educativo</a:t>
                      </a:r>
                    </a:p>
                  </a:txBody>
                  <a:tcPr/>
                </a:tc>
                <a:tc>
                  <a:txBody>
                    <a:bodyPr/>
                    <a:lstStyle/>
                    <a:p>
                      <a:pPr marL="0" lvl="0" indent="0" algn="r">
                        <a:buNone/>
                      </a:pPr>
                      <a:r>
                        <a:t>1174</a:t>
                      </a:r>
                    </a:p>
                  </a:txBody>
                  <a:tcPr/>
                </a:tc>
                <a:tc>
                  <a:txBody>
                    <a:bodyPr/>
                    <a:lstStyle/>
                    <a:p>
                      <a:pPr marL="0" lvl="0" indent="0" algn="r">
                        <a:buNone/>
                      </a:pPr>
                      <a:r>
                        <a:t>0</a:t>
                      </a:r>
                    </a:p>
                  </a:txBody>
                  <a:tcPr/>
                </a:tc>
                <a:tc>
                  <a:txBody>
                    <a:bodyPr/>
                    <a:lstStyle/>
                    <a:p>
                      <a:pPr marL="0" lvl="0" indent="0" algn="r">
                        <a:buNone/>
                      </a:pPr>
                      <a:r>
                        <a:t>12.78620</a:t>
                      </a:r>
                    </a:p>
                  </a:txBody>
                  <a:tcPr/>
                </a:tc>
                <a:tc>
                  <a:txBody>
                    <a:bodyPr/>
                    <a:lstStyle/>
                    <a:p>
                      <a:pPr marL="0" lvl="0" indent="0" algn="r">
                        <a:buNone/>
                      </a:pPr>
                      <a:r>
                        <a:t>3.228884</a:t>
                      </a:r>
                    </a:p>
                  </a:txBody>
                  <a:tcPr/>
                </a:tc>
                <a:tc>
                  <a:txBody>
                    <a:bodyPr/>
                    <a:lstStyle/>
                    <a:p>
                      <a:pPr marL="0" lvl="0" indent="0" algn="l">
                        <a:buNone/>
                      </a:pPr>
                      <a:r>
                        <a:rPr dirty="0"/>
                        <a:t>16 (1-17)</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364651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587828" y="1592036"/>
            <a:ext cx="8417379" cy="2947307"/>
          </a:xfrm>
        </p:spPr>
        <p:txBody>
          <a:bodyPr>
            <a:normAutofit/>
          </a:bodyPr>
          <a:lstStyle/>
          <a:p>
            <a:pPr marL="0" lvl="0" indent="0">
              <a:buNone/>
            </a:pPr>
            <a:r>
              <a:rPr sz="1400" dirty="0"/>
              <a:t>La </a:t>
            </a:r>
            <a:r>
              <a:rPr sz="1400" dirty="0" err="1"/>
              <a:t>muestra</a:t>
            </a:r>
            <a:r>
              <a:rPr sz="1400" dirty="0"/>
              <a:t> </a:t>
            </a:r>
            <a:r>
              <a:rPr sz="1400" dirty="0" err="1"/>
              <a:t>analizada</a:t>
            </a:r>
            <a:r>
              <a:rPr sz="1400" dirty="0"/>
              <a:t> </a:t>
            </a:r>
            <a:r>
              <a:rPr sz="1400" dirty="0" err="1"/>
              <a:t>está</a:t>
            </a:r>
            <a:r>
              <a:rPr sz="1400" dirty="0"/>
              <a:t> </a:t>
            </a:r>
            <a:r>
              <a:rPr sz="1400" dirty="0" err="1"/>
              <a:t>compuesta</a:t>
            </a:r>
            <a:r>
              <a:rPr sz="1400" dirty="0"/>
              <a:t> </a:t>
            </a:r>
            <a:r>
              <a:rPr sz="1400" dirty="0" err="1"/>
              <a:t>por</a:t>
            </a:r>
            <a:r>
              <a:rPr sz="1400" dirty="0"/>
              <a:t> 1.174 </a:t>
            </a:r>
            <a:r>
              <a:rPr sz="1400" dirty="0" err="1"/>
              <a:t>casos</a:t>
            </a:r>
            <a:r>
              <a:rPr sz="1400" dirty="0"/>
              <a:t> </a:t>
            </a:r>
            <a:r>
              <a:rPr sz="1400" dirty="0" err="1"/>
              <a:t>válidos</a:t>
            </a:r>
            <a:r>
              <a:rPr sz="1400" dirty="0"/>
              <a:t> para las variables </a:t>
            </a:r>
            <a:r>
              <a:rPr sz="1400" dirty="0" err="1"/>
              <a:t>edad</a:t>
            </a:r>
            <a:r>
              <a:rPr sz="1400" dirty="0"/>
              <a:t> y </a:t>
            </a:r>
            <a:r>
              <a:rPr sz="1400" dirty="0" err="1"/>
              <a:t>nivel</a:t>
            </a:r>
            <a:r>
              <a:rPr sz="1400" dirty="0"/>
              <a:t> </a:t>
            </a:r>
            <a:r>
              <a:rPr sz="1400" dirty="0" err="1"/>
              <a:t>educativo</a:t>
            </a:r>
            <a:r>
              <a:rPr sz="1400" dirty="0"/>
              <a:t>. La </a:t>
            </a:r>
            <a:r>
              <a:rPr sz="1400" dirty="0" err="1"/>
              <a:t>edad</a:t>
            </a:r>
            <a:r>
              <a:rPr sz="1400" dirty="0"/>
              <a:t> </a:t>
            </a:r>
            <a:r>
              <a:rPr sz="1400" dirty="0" err="1"/>
              <a:t>promedio</a:t>
            </a:r>
            <a:r>
              <a:rPr sz="1400" dirty="0"/>
              <a:t> de </a:t>
            </a:r>
            <a:r>
              <a:rPr sz="1400" dirty="0" err="1"/>
              <a:t>los</a:t>
            </a:r>
            <a:r>
              <a:rPr sz="1400" dirty="0"/>
              <a:t> </a:t>
            </a:r>
            <a:r>
              <a:rPr sz="1400" dirty="0" err="1"/>
              <a:t>encuestados</a:t>
            </a:r>
            <a:r>
              <a:rPr sz="1400" dirty="0"/>
              <a:t> es de 42,9 </a:t>
            </a:r>
            <a:r>
              <a:rPr sz="1400" dirty="0" err="1"/>
              <a:t>años</a:t>
            </a:r>
            <a:r>
              <a:rPr sz="1400" dirty="0"/>
              <a:t>, con </a:t>
            </a:r>
            <a:r>
              <a:rPr sz="1400" dirty="0" err="1"/>
              <a:t>una</a:t>
            </a:r>
            <a:r>
              <a:rPr sz="1400" dirty="0"/>
              <a:t> </a:t>
            </a:r>
            <a:r>
              <a:rPr sz="1400" dirty="0" err="1"/>
              <a:t>desviación</a:t>
            </a:r>
            <a:r>
              <a:rPr sz="1400" dirty="0"/>
              <a:t> </a:t>
            </a:r>
            <a:r>
              <a:rPr sz="1400" dirty="0" err="1"/>
              <a:t>estándar</a:t>
            </a:r>
            <a:r>
              <a:rPr sz="1400" dirty="0"/>
              <a:t> de 16,9 </a:t>
            </a:r>
            <a:r>
              <a:rPr sz="1400" dirty="0" err="1"/>
              <a:t>años</a:t>
            </a:r>
            <a:r>
              <a:rPr sz="1400" dirty="0"/>
              <a:t>, lo </a:t>
            </a:r>
            <a:r>
              <a:rPr sz="1400" dirty="0" err="1"/>
              <a:t>que</a:t>
            </a:r>
            <a:r>
              <a:rPr sz="1400" dirty="0"/>
              <a:t> indica </a:t>
            </a:r>
            <a:r>
              <a:rPr sz="1400" dirty="0" err="1"/>
              <a:t>una</a:t>
            </a:r>
            <a:r>
              <a:rPr sz="1400" dirty="0"/>
              <a:t> </a:t>
            </a:r>
            <a:r>
              <a:rPr sz="1400" dirty="0" err="1"/>
              <a:t>distribución</a:t>
            </a:r>
            <a:r>
              <a:rPr sz="1400" dirty="0"/>
              <a:t> </a:t>
            </a:r>
            <a:r>
              <a:rPr sz="1400" dirty="0" err="1"/>
              <a:t>etaria</a:t>
            </a:r>
            <a:r>
              <a:rPr sz="1400" dirty="0"/>
              <a:t> </a:t>
            </a:r>
            <a:r>
              <a:rPr sz="1400" dirty="0" err="1"/>
              <a:t>relativamente</a:t>
            </a:r>
            <a:r>
              <a:rPr sz="1400" dirty="0"/>
              <a:t> </a:t>
            </a:r>
            <a:r>
              <a:rPr sz="1400" dirty="0" err="1"/>
              <a:t>amplia</a:t>
            </a:r>
            <a:r>
              <a:rPr sz="1400" dirty="0"/>
              <a:t>. Los </a:t>
            </a:r>
            <a:r>
              <a:rPr sz="1400" dirty="0" err="1"/>
              <a:t>participantes</a:t>
            </a:r>
            <a:r>
              <a:rPr sz="1400" dirty="0"/>
              <a:t> </a:t>
            </a:r>
            <a:r>
              <a:rPr sz="1400" dirty="0" err="1"/>
              <a:t>tienen</a:t>
            </a:r>
            <a:r>
              <a:rPr sz="1400" dirty="0"/>
              <a:t> </a:t>
            </a:r>
            <a:r>
              <a:rPr sz="1400" dirty="0" err="1"/>
              <a:t>edades</a:t>
            </a:r>
            <a:r>
              <a:rPr sz="1400" dirty="0"/>
              <a:t> </a:t>
            </a:r>
            <a:r>
              <a:rPr sz="1400" dirty="0" err="1"/>
              <a:t>comprendidas</a:t>
            </a:r>
            <a:r>
              <a:rPr sz="1400" dirty="0"/>
              <a:t> entre </a:t>
            </a:r>
            <a:r>
              <a:rPr sz="1400" dirty="0" err="1"/>
              <a:t>los</a:t>
            </a:r>
            <a:r>
              <a:rPr sz="1400" dirty="0"/>
              <a:t> 18 y </a:t>
            </a:r>
            <a:r>
              <a:rPr sz="1400" dirty="0" err="1"/>
              <a:t>los</a:t>
            </a:r>
            <a:r>
              <a:rPr sz="1400" dirty="0"/>
              <a:t> 90 </a:t>
            </a:r>
            <a:r>
              <a:rPr sz="1400" dirty="0" err="1"/>
              <a:t>años</a:t>
            </a:r>
            <a:r>
              <a:rPr sz="1400" dirty="0"/>
              <a:t>.</a:t>
            </a:r>
          </a:p>
          <a:p>
            <a:pPr marL="0" lvl="0" indent="0">
              <a:buNone/>
            </a:pPr>
            <a:r>
              <a:rPr sz="1400" dirty="0"/>
              <a:t>Por </a:t>
            </a:r>
            <a:r>
              <a:rPr sz="1400" dirty="0" err="1"/>
              <a:t>su</a:t>
            </a:r>
            <a:r>
              <a:rPr sz="1400" dirty="0"/>
              <a:t> </a:t>
            </a:r>
            <a:r>
              <a:rPr sz="1400" dirty="0" err="1"/>
              <a:t>parte</a:t>
            </a:r>
            <a:r>
              <a:rPr sz="1400" dirty="0"/>
              <a:t>, </a:t>
            </a:r>
            <a:r>
              <a:rPr sz="1400" dirty="0" err="1"/>
              <a:t>el</a:t>
            </a:r>
            <a:r>
              <a:rPr sz="1400" dirty="0"/>
              <a:t> </a:t>
            </a:r>
            <a:r>
              <a:rPr sz="1400" dirty="0" err="1"/>
              <a:t>nivel</a:t>
            </a:r>
            <a:r>
              <a:rPr sz="1400" dirty="0"/>
              <a:t> </a:t>
            </a:r>
            <a:r>
              <a:rPr sz="1400" dirty="0" err="1"/>
              <a:t>educativo</a:t>
            </a:r>
            <a:r>
              <a:rPr sz="1400" dirty="0"/>
              <a:t> </a:t>
            </a:r>
            <a:r>
              <a:rPr sz="1400" dirty="0" err="1"/>
              <a:t>presenta</a:t>
            </a:r>
            <a:r>
              <a:rPr sz="1400" dirty="0"/>
              <a:t> un </a:t>
            </a:r>
            <a:r>
              <a:rPr sz="1400" dirty="0" err="1"/>
              <a:t>promedio</a:t>
            </a:r>
            <a:r>
              <a:rPr sz="1400" dirty="0"/>
              <a:t> de 12,8 puntos </a:t>
            </a:r>
            <a:r>
              <a:rPr sz="1400" dirty="0" err="1"/>
              <a:t>en</a:t>
            </a:r>
            <a:r>
              <a:rPr sz="1400" dirty="0"/>
              <a:t> la </a:t>
            </a:r>
            <a:r>
              <a:rPr sz="1400" dirty="0" err="1"/>
              <a:t>escala</a:t>
            </a:r>
            <a:r>
              <a:rPr sz="1400" dirty="0"/>
              <a:t> </a:t>
            </a:r>
            <a:r>
              <a:rPr sz="1400" dirty="0" err="1"/>
              <a:t>utilizada</a:t>
            </a:r>
            <a:r>
              <a:rPr sz="1400" dirty="0"/>
              <a:t> </a:t>
            </a:r>
            <a:r>
              <a:rPr sz="1400" dirty="0" err="1"/>
              <a:t>por</a:t>
            </a:r>
            <a:r>
              <a:rPr sz="1400" dirty="0"/>
              <a:t> </a:t>
            </a:r>
            <a:r>
              <a:rPr sz="1400" dirty="0" err="1"/>
              <a:t>Latinobarómetro</a:t>
            </a:r>
            <a:r>
              <a:rPr sz="1400" dirty="0"/>
              <a:t>, con </a:t>
            </a:r>
            <a:r>
              <a:rPr sz="1400" dirty="0" err="1"/>
              <a:t>una</a:t>
            </a:r>
            <a:r>
              <a:rPr sz="1400" dirty="0"/>
              <a:t> </a:t>
            </a:r>
            <a:r>
              <a:rPr sz="1400" dirty="0" err="1"/>
              <a:t>desviación</a:t>
            </a:r>
            <a:r>
              <a:rPr sz="1400" dirty="0"/>
              <a:t> </a:t>
            </a:r>
            <a:r>
              <a:rPr sz="1400" dirty="0" err="1"/>
              <a:t>estándar</a:t>
            </a:r>
            <a:r>
              <a:rPr sz="1400" dirty="0"/>
              <a:t> de 3,2 puntos. El </a:t>
            </a:r>
            <a:r>
              <a:rPr sz="1400" dirty="0" err="1"/>
              <a:t>rango</a:t>
            </a:r>
            <a:r>
              <a:rPr sz="1400" dirty="0"/>
              <a:t> </a:t>
            </a:r>
            <a:r>
              <a:rPr sz="1400" dirty="0" err="1"/>
              <a:t>observado</a:t>
            </a:r>
            <a:r>
              <a:rPr sz="1400" dirty="0"/>
              <a:t> </a:t>
            </a:r>
            <a:r>
              <a:rPr sz="1400" dirty="0" err="1"/>
              <a:t>abarca</a:t>
            </a:r>
            <a:r>
              <a:rPr sz="1400" dirty="0"/>
              <a:t> </a:t>
            </a:r>
            <a:r>
              <a:rPr sz="1400" dirty="0" err="1"/>
              <a:t>desde</a:t>
            </a:r>
            <a:r>
              <a:rPr sz="1400" dirty="0"/>
              <a:t> la </a:t>
            </a:r>
            <a:r>
              <a:rPr sz="1400" dirty="0" err="1"/>
              <a:t>categoría</a:t>
            </a:r>
            <a:r>
              <a:rPr sz="1400" dirty="0"/>
              <a:t> 1 (sin </a:t>
            </a:r>
            <a:r>
              <a:rPr sz="1400" dirty="0" err="1"/>
              <a:t>estudios</a:t>
            </a:r>
            <a:r>
              <a:rPr sz="1400" dirty="0"/>
              <a:t>) hasta la </a:t>
            </a:r>
            <a:r>
              <a:rPr sz="1400" dirty="0" err="1"/>
              <a:t>categoría</a:t>
            </a:r>
            <a:r>
              <a:rPr sz="1400" dirty="0"/>
              <a:t> 17 (</a:t>
            </a:r>
            <a:r>
              <a:rPr sz="1400" dirty="0" err="1"/>
              <a:t>estudios</a:t>
            </a:r>
            <a:r>
              <a:rPr sz="1400" dirty="0"/>
              <a:t> </a:t>
            </a:r>
            <a:r>
              <a:rPr sz="1400" dirty="0" err="1"/>
              <a:t>técnicos</a:t>
            </a:r>
            <a:r>
              <a:rPr sz="1400" dirty="0"/>
              <a:t> </a:t>
            </a:r>
            <a:r>
              <a:rPr sz="1400" dirty="0" err="1"/>
              <a:t>superiores</a:t>
            </a:r>
            <a:r>
              <a:rPr sz="1400" dirty="0"/>
              <a:t> </a:t>
            </a:r>
            <a:r>
              <a:rPr sz="1400" dirty="0" err="1"/>
              <a:t>completos</a:t>
            </a:r>
            <a:r>
              <a:rPr sz="1400" dirty="0"/>
              <a:t>), lo </a:t>
            </a:r>
            <a:r>
              <a:rPr sz="1400" dirty="0" err="1"/>
              <a:t>que</a:t>
            </a:r>
            <a:r>
              <a:rPr sz="1400" dirty="0"/>
              <a:t> </a:t>
            </a:r>
            <a:r>
              <a:rPr sz="1400" dirty="0" err="1"/>
              <a:t>evidencia</a:t>
            </a:r>
            <a:r>
              <a:rPr sz="1400" dirty="0"/>
              <a:t> </a:t>
            </a:r>
            <a:r>
              <a:rPr sz="1400" dirty="0" err="1"/>
              <a:t>una</a:t>
            </a:r>
            <a:r>
              <a:rPr sz="1400" dirty="0"/>
              <a:t> </a:t>
            </a:r>
            <a:r>
              <a:rPr sz="1400" dirty="0" err="1"/>
              <a:t>importante</a:t>
            </a:r>
            <a:r>
              <a:rPr sz="1400" dirty="0"/>
              <a:t> </a:t>
            </a:r>
            <a:r>
              <a:rPr sz="1400" dirty="0" err="1"/>
              <a:t>heterogeneidad</a:t>
            </a:r>
            <a:r>
              <a:rPr sz="1400" dirty="0"/>
              <a:t> </a:t>
            </a:r>
            <a:r>
              <a:rPr sz="1400" dirty="0" err="1"/>
              <a:t>en</a:t>
            </a:r>
            <a:r>
              <a:rPr sz="1400" dirty="0"/>
              <a:t> </a:t>
            </a:r>
            <a:r>
              <a:rPr sz="1400" dirty="0" err="1"/>
              <a:t>los</a:t>
            </a:r>
            <a:r>
              <a:rPr sz="1400" dirty="0"/>
              <a:t> </a:t>
            </a:r>
            <a:r>
              <a:rPr sz="1400" dirty="0" err="1"/>
              <a:t>niveles</a:t>
            </a:r>
            <a:r>
              <a:rPr sz="1400" dirty="0"/>
              <a:t> </a:t>
            </a:r>
            <a:r>
              <a:rPr sz="1400" dirty="0" err="1"/>
              <a:t>educativos</a:t>
            </a:r>
            <a:r>
              <a:rPr sz="1400" dirty="0"/>
              <a:t> </a:t>
            </a:r>
            <a:r>
              <a:rPr sz="1400" dirty="0" err="1"/>
              <a:t>presentes</a:t>
            </a:r>
            <a:r>
              <a:rPr sz="1400" dirty="0"/>
              <a:t> </a:t>
            </a:r>
            <a:r>
              <a:rPr sz="1400" dirty="0" err="1"/>
              <a:t>en</a:t>
            </a:r>
            <a:r>
              <a:rPr sz="1400" dirty="0"/>
              <a:t> la </a:t>
            </a:r>
            <a:r>
              <a:rPr sz="1400" dirty="0" err="1"/>
              <a:t>muestra</a:t>
            </a:r>
            <a:r>
              <a:rPr sz="1400" dirty="0"/>
              <a:t>.</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832850331"/>
              </p:ext>
            </p:extLst>
          </p:nvPr>
        </p:nvGraphicFramePr>
        <p:xfrm>
          <a:off x="1387928" y="228600"/>
          <a:ext cx="5830659" cy="1078410"/>
        </p:xfrm>
        <a:graphic>
          <a:graphicData uri="http://schemas.openxmlformats.org/drawingml/2006/table">
            <a:tbl>
              <a:tblPr firstRow="1" bandRow="1">
                <a:tableStyleId>{5C22544A-7EE6-4342-B048-85BDC9FD1C3A}</a:tableStyleId>
              </a:tblPr>
              <a:tblGrid>
                <a:gridCol w="1943553">
                  <a:extLst>
                    <a:ext uri="{9D8B030D-6E8A-4147-A177-3AD203B41FA5}">
                      <a16:colId xmlns:a16="http://schemas.microsoft.com/office/drawing/2014/main" val="20000"/>
                    </a:ext>
                  </a:extLst>
                </a:gridCol>
                <a:gridCol w="1943553">
                  <a:extLst>
                    <a:ext uri="{9D8B030D-6E8A-4147-A177-3AD203B41FA5}">
                      <a16:colId xmlns:a16="http://schemas.microsoft.com/office/drawing/2014/main" val="20001"/>
                    </a:ext>
                  </a:extLst>
                </a:gridCol>
                <a:gridCol w="1943553">
                  <a:extLst>
                    <a:ext uri="{9D8B030D-6E8A-4147-A177-3AD203B41FA5}">
                      <a16:colId xmlns:a16="http://schemas.microsoft.com/office/drawing/2014/main" val="20002"/>
                    </a:ext>
                  </a:extLst>
                </a:gridCol>
              </a:tblGrid>
              <a:tr h="359470">
                <a:tc>
                  <a:txBody>
                    <a:bodyPr/>
                    <a:lstStyle/>
                    <a:p>
                      <a:pPr marL="0" lvl="0" indent="0" algn="l">
                        <a:buNone/>
                      </a:pPr>
                      <a:r>
                        <a:rPr dirty="0" err="1"/>
                        <a:t>sexo</a:t>
                      </a:r>
                      <a:endParaRPr dirty="0"/>
                    </a:p>
                  </a:txBody>
                  <a:tcPr/>
                </a:tc>
                <a:tc>
                  <a:txBody>
                    <a:bodyPr/>
                    <a:lstStyle/>
                    <a:p>
                      <a:pPr marL="0" lvl="0" indent="0" algn="r">
                        <a:buNone/>
                      </a:pPr>
                      <a:r>
                        <a:t>n</a:t>
                      </a:r>
                    </a:p>
                  </a:txBody>
                  <a:tcPr/>
                </a:tc>
                <a:tc>
                  <a:txBody>
                    <a:bodyPr/>
                    <a:lstStyle/>
                    <a:p>
                      <a:pPr marL="0" lvl="0" indent="0" algn="r">
                        <a:buNone/>
                      </a:pPr>
                      <a:r>
                        <a:t>porcentaje</a:t>
                      </a:r>
                    </a:p>
                  </a:txBody>
                  <a:tcPr/>
                </a:tc>
                <a:extLst>
                  <a:ext uri="{0D108BD9-81ED-4DB2-BD59-A6C34878D82A}">
                    <a16:rowId xmlns:a16="http://schemas.microsoft.com/office/drawing/2014/main" val="10000"/>
                  </a:ext>
                </a:extLst>
              </a:tr>
              <a:tr h="359470">
                <a:tc>
                  <a:txBody>
                    <a:bodyPr/>
                    <a:lstStyle/>
                    <a:p>
                      <a:pPr marL="0" lvl="0" indent="0" algn="l">
                        <a:buNone/>
                      </a:pPr>
                      <a:r>
                        <a:t>Hombre</a:t>
                      </a:r>
                    </a:p>
                  </a:txBody>
                  <a:tcPr/>
                </a:tc>
                <a:tc>
                  <a:txBody>
                    <a:bodyPr/>
                    <a:lstStyle/>
                    <a:p>
                      <a:pPr marL="0" lvl="0" indent="0" algn="r">
                        <a:buNone/>
                      </a:pPr>
                      <a:r>
                        <a:t>566</a:t>
                      </a:r>
                    </a:p>
                  </a:txBody>
                  <a:tcPr/>
                </a:tc>
                <a:tc>
                  <a:txBody>
                    <a:bodyPr/>
                    <a:lstStyle/>
                    <a:p>
                      <a:pPr marL="0" lvl="0" indent="0" algn="r">
                        <a:buNone/>
                      </a:pPr>
                      <a:r>
                        <a:t>48.2</a:t>
                      </a:r>
                    </a:p>
                  </a:txBody>
                  <a:tcPr/>
                </a:tc>
                <a:extLst>
                  <a:ext uri="{0D108BD9-81ED-4DB2-BD59-A6C34878D82A}">
                    <a16:rowId xmlns:a16="http://schemas.microsoft.com/office/drawing/2014/main" val="10001"/>
                  </a:ext>
                </a:extLst>
              </a:tr>
              <a:tr h="359470">
                <a:tc>
                  <a:txBody>
                    <a:bodyPr/>
                    <a:lstStyle/>
                    <a:p>
                      <a:pPr marL="0" lvl="0" indent="0" algn="l">
                        <a:buNone/>
                      </a:pPr>
                      <a:r>
                        <a:t>Mujer</a:t>
                      </a:r>
                    </a:p>
                  </a:txBody>
                  <a:tcPr/>
                </a:tc>
                <a:tc>
                  <a:txBody>
                    <a:bodyPr/>
                    <a:lstStyle/>
                    <a:p>
                      <a:pPr marL="0" lvl="0" indent="0" algn="r">
                        <a:buNone/>
                      </a:pPr>
                      <a:r>
                        <a:t>608</a:t>
                      </a:r>
                    </a:p>
                  </a:txBody>
                  <a:tcPr/>
                </a:tc>
                <a:tc>
                  <a:txBody>
                    <a:bodyPr/>
                    <a:lstStyle/>
                    <a:p>
                      <a:pPr marL="0" lvl="0" indent="0" algn="r">
                        <a:buNone/>
                      </a:pPr>
                      <a:r>
                        <a:rPr dirty="0"/>
                        <a:t>51.8</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043668" y="394209"/>
            <a:ext cx="6621236" cy="3518297"/>
          </a:xfrm>
        </p:spPr>
        <p:txBody>
          <a:bodyPr>
            <a:normAutofit/>
          </a:bodyPr>
          <a:lstStyle/>
          <a:p>
            <a:pPr marL="0" lvl="0" indent="0">
              <a:buNone/>
            </a:pPr>
            <a:r>
              <a:rPr sz="1400" dirty="0"/>
              <a:t>La </a:t>
            </a:r>
            <a:r>
              <a:rPr sz="1400" dirty="0" err="1"/>
              <a:t>muestra</a:t>
            </a:r>
            <a:r>
              <a:rPr sz="1400" dirty="0"/>
              <a:t> </a:t>
            </a:r>
            <a:r>
              <a:rPr sz="1400" dirty="0" err="1"/>
              <a:t>presenta</a:t>
            </a:r>
            <a:r>
              <a:rPr sz="1400" dirty="0"/>
              <a:t> </a:t>
            </a:r>
            <a:r>
              <a:rPr sz="1400" dirty="0" err="1"/>
              <a:t>una</a:t>
            </a:r>
            <a:r>
              <a:rPr sz="1400" dirty="0"/>
              <a:t> </a:t>
            </a:r>
            <a:r>
              <a:rPr sz="1400" dirty="0" err="1"/>
              <a:t>distribución</a:t>
            </a:r>
            <a:r>
              <a:rPr sz="1400" dirty="0"/>
              <a:t> </a:t>
            </a:r>
            <a:r>
              <a:rPr sz="1400" dirty="0" err="1"/>
              <a:t>equilibrada</a:t>
            </a:r>
            <a:r>
              <a:rPr sz="1400" dirty="0"/>
              <a:t> </a:t>
            </a:r>
            <a:r>
              <a:rPr sz="1400" dirty="0" err="1"/>
              <a:t>por</a:t>
            </a:r>
            <a:r>
              <a:rPr sz="1400" dirty="0"/>
              <a:t> </a:t>
            </a:r>
            <a:r>
              <a:rPr sz="1400" dirty="0" err="1"/>
              <a:t>sexo</a:t>
            </a:r>
            <a:r>
              <a:rPr sz="1400" dirty="0"/>
              <a:t>. Del total de </a:t>
            </a:r>
            <a:r>
              <a:rPr sz="1400" dirty="0" err="1"/>
              <a:t>casos</a:t>
            </a:r>
            <a:r>
              <a:rPr sz="1400" dirty="0"/>
              <a:t> </a:t>
            </a:r>
            <a:r>
              <a:rPr sz="1400" dirty="0" err="1"/>
              <a:t>analizados</a:t>
            </a:r>
            <a:r>
              <a:rPr sz="1400" dirty="0"/>
              <a:t>, </a:t>
            </a:r>
            <a:r>
              <a:rPr sz="1400" dirty="0" err="1"/>
              <a:t>el</a:t>
            </a:r>
            <a:r>
              <a:rPr sz="1400" dirty="0"/>
              <a:t> 51,8% </a:t>
            </a:r>
            <a:r>
              <a:rPr sz="1400" dirty="0" err="1"/>
              <a:t>corresponde</a:t>
            </a:r>
            <a:r>
              <a:rPr sz="1400" dirty="0"/>
              <a:t> a </a:t>
            </a:r>
            <a:r>
              <a:rPr sz="1400" dirty="0" err="1"/>
              <a:t>mujeres</a:t>
            </a:r>
            <a:r>
              <a:rPr sz="1400" dirty="0"/>
              <a:t> y </a:t>
            </a:r>
            <a:r>
              <a:rPr sz="1400" dirty="0" err="1"/>
              <a:t>el</a:t>
            </a:r>
            <a:r>
              <a:rPr sz="1400" dirty="0"/>
              <a:t> 48,2% a hombres. Esta </a:t>
            </a:r>
            <a:r>
              <a:rPr sz="1400" dirty="0" err="1"/>
              <a:t>distribución</a:t>
            </a:r>
            <a:r>
              <a:rPr sz="1400" dirty="0"/>
              <a:t> reduce </a:t>
            </a:r>
            <a:r>
              <a:rPr sz="1400" dirty="0" err="1"/>
              <a:t>el</a:t>
            </a:r>
            <a:r>
              <a:rPr sz="1400" dirty="0"/>
              <a:t> </a:t>
            </a:r>
            <a:r>
              <a:rPr sz="1400" dirty="0" err="1"/>
              <a:t>riesgo</a:t>
            </a:r>
            <a:r>
              <a:rPr sz="1400" dirty="0"/>
              <a:t> de </a:t>
            </a:r>
            <a:r>
              <a:rPr sz="1400" dirty="0" err="1"/>
              <a:t>sesgos</a:t>
            </a:r>
            <a:r>
              <a:rPr sz="1400" dirty="0"/>
              <a:t> </a:t>
            </a:r>
            <a:r>
              <a:rPr sz="1400" dirty="0" err="1"/>
              <a:t>derivados</a:t>
            </a:r>
            <a:r>
              <a:rPr sz="1400" dirty="0"/>
              <a:t> de </a:t>
            </a:r>
            <a:r>
              <a:rPr sz="1400" dirty="0" err="1"/>
              <a:t>una</a:t>
            </a:r>
            <a:r>
              <a:rPr sz="1400" dirty="0"/>
              <a:t> </a:t>
            </a:r>
            <a:r>
              <a:rPr sz="1400" dirty="0" err="1"/>
              <a:t>sobrerrepresentación</a:t>
            </a:r>
            <a:r>
              <a:rPr sz="1400" dirty="0"/>
              <a:t> de </a:t>
            </a:r>
            <a:r>
              <a:rPr sz="1400" dirty="0" err="1"/>
              <a:t>alguno</a:t>
            </a:r>
            <a:r>
              <a:rPr sz="1400" dirty="0"/>
              <a:t> de </a:t>
            </a:r>
            <a:r>
              <a:rPr sz="1400" dirty="0" err="1"/>
              <a:t>los</a:t>
            </a:r>
            <a:r>
              <a:rPr sz="1400" dirty="0"/>
              <a:t> </a:t>
            </a:r>
            <a:r>
              <a:rPr sz="1400" dirty="0" err="1"/>
              <a:t>grupos</a:t>
            </a:r>
            <a:r>
              <a:rPr sz="1400" dirty="0"/>
              <a:t> y </a:t>
            </a:r>
            <a:r>
              <a:rPr sz="1400" dirty="0" err="1"/>
              <a:t>permite</a:t>
            </a:r>
            <a:r>
              <a:rPr sz="1400" dirty="0"/>
              <a:t> </a:t>
            </a:r>
            <a:r>
              <a:rPr sz="1400" dirty="0" err="1"/>
              <a:t>realizar</a:t>
            </a:r>
            <a:r>
              <a:rPr sz="1400" dirty="0"/>
              <a:t> </a:t>
            </a:r>
            <a:r>
              <a:rPr sz="1400" dirty="0" err="1"/>
              <a:t>comparaciones</a:t>
            </a:r>
            <a:r>
              <a:rPr sz="1400" dirty="0"/>
              <a:t> entre ambos </a:t>
            </a:r>
            <a:r>
              <a:rPr sz="1400" dirty="0" err="1"/>
              <a:t>sexos</a:t>
            </a:r>
            <a:r>
              <a:rPr sz="1400" dirty="0"/>
              <a:t> </a:t>
            </a:r>
            <a:r>
              <a:rPr sz="1400" dirty="0" err="1"/>
              <a:t>en</a:t>
            </a:r>
            <a:r>
              <a:rPr sz="1400" dirty="0"/>
              <a:t> </a:t>
            </a:r>
            <a:r>
              <a:rPr sz="1400" dirty="0" err="1"/>
              <a:t>condiciones</a:t>
            </a:r>
            <a:r>
              <a:rPr sz="1400" dirty="0"/>
              <a:t> </a:t>
            </a:r>
            <a:r>
              <a:rPr sz="1400" dirty="0" err="1"/>
              <a:t>relativamente</a:t>
            </a:r>
            <a:r>
              <a:rPr sz="1400" dirty="0"/>
              <a:t> </a:t>
            </a:r>
            <a:r>
              <a:rPr sz="1400" dirty="0" err="1"/>
              <a:t>equivalentes</a:t>
            </a:r>
            <a:r>
              <a:rPr sz="1400" dirty="0"/>
              <a:t>.</a:t>
            </a:r>
          </a:p>
          <a:p>
            <a:pPr marL="0" lvl="0" indent="0">
              <a:spcBef>
                <a:spcPts val="3000"/>
              </a:spcBef>
              <a:buNone/>
            </a:pPr>
            <a:r>
              <a:rPr sz="1400" b="1" dirty="0" err="1"/>
              <a:t>Frecuencia</a:t>
            </a:r>
            <a:r>
              <a:rPr sz="1400" b="1" dirty="0"/>
              <a:t> </a:t>
            </a:r>
            <a:r>
              <a:rPr sz="1400" b="1" dirty="0" err="1"/>
              <a:t>satisfacción</a:t>
            </a:r>
            <a:r>
              <a:rPr sz="1400" b="1" dirty="0"/>
              <a:t> con la </a:t>
            </a:r>
            <a:r>
              <a:rPr sz="1400" b="1" dirty="0" err="1"/>
              <a:t>democracia</a:t>
            </a:r>
            <a:endParaRPr sz="1400" b="1"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493034685"/>
              </p:ext>
            </p:extLst>
          </p:nvPr>
        </p:nvGraphicFramePr>
        <p:xfrm>
          <a:off x="1043668" y="2735037"/>
          <a:ext cx="6034767" cy="1772374"/>
        </p:xfrm>
        <a:graphic>
          <a:graphicData uri="http://schemas.openxmlformats.org/drawingml/2006/table">
            <a:tbl>
              <a:tblPr firstRow="1" bandRow="1">
                <a:tableStyleId>{5C22544A-7EE6-4342-B048-85BDC9FD1C3A}</a:tableStyleId>
              </a:tblPr>
              <a:tblGrid>
                <a:gridCol w="2011589">
                  <a:extLst>
                    <a:ext uri="{9D8B030D-6E8A-4147-A177-3AD203B41FA5}">
                      <a16:colId xmlns:a16="http://schemas.microsoft.com/office/drawing/2014/main" val="20000"/>
                    </a:ext>
                  </a:extLst>
                </a:gridCol>
                <a:gridCol w="2011589">
                  <a:extLst>
                    <a:ext uri="{9D8B030D-6E8A-4147-A177-3AD203B41FA5}">
                      <a16:colId xmlns:a16="http://schemas.microsoft.com/office/drawing/2014/main" val="20001"/>
                    </a:ext>
                  </a:extLst>
                </a:gridCol>
                <a:gridCol w="2011589">
                  <a:extLst>
                    <a:ext uri="{9D8B030D-6E8A-4147-A177-3AD203B41FA5}">
                      <a16:colId xmlns:a16="http://schemas.microsoft.com/office/drawing/2014/main" val="20002"/>
                    </a:ext>
                  </a:extLst>
                </a:gridCol>
              </a:tblGrid>
              <a:tr h="526922">
                <a:tc>
                  <a:txBody>
                    <a:bodyPr/>
                    <a:lstStyle/>
                    <a:p>
                      <a:pPr marL="0" lvl="0" indent="0" algn="l">
                        <a:buNone/>
                      </a:pPr>
                      <a:r>
                        <a:t>satisfaccion_democracia</a:t>
                      </a:r>
                    </a:p>
                  </a:txBody>
                  <a:tcPr/>
                </a:tc>
                <a:tc>
                  <a:txBody>
                    <a:bodyPr/>
                    <a:lstStyle/>
                    <a:p>
                      <a:pPr marL="0" lvl="0" indent="0" algn="r">
                        <a:buNone/>
                      </a:pPr>
                      <a:r>
                        <a:rPr dirty="0"/>
                        <a:t>n</a:t>
                      </a:r>
                    </a:p>
                  </a:txBody>
                  <a:tcPr/>
                </a:tc>
                <a:tc>
                  <a:txBody>
                    <a:bodyPr/>
                    <a:lstStyle/>
                    <a:p>
                      <a:pPr marL="0" lvl="0" indent="0" algn="r">
                        <a:buNone/>
                      </a:pPr>
                      <a:r>
                        <a:t>porcentaje</a:t>
                      </a:r>
                    </a:p>
                  </a:txBody>
                  <a:tcPr/>
                </a:tc>
                <a:extLst>
                  <a:ext uri="{0D108BD9-81ED-4DB2-BD59-A6C34878D82A}">
                    <a16:rowId xmlns:a16="http://schemas.microsoft.com/office/drawing/2014/main" val="10000"/>
                  </a:ext>
                </a:extLst>
              </a:tr>
              <a:tr h="311363">
                <a:tc>
                  <a:txBody>
                    <a:bodyPr/>
                    <a:lstStyle/>
                    <a:p>
                      <a:pPr marL="0" lvl="0" indent="0" algn="l">
                        <a:buNone/>
                      </a:pPr>
                      <a:r>
                        <a:t>Muy satisfecho</a:t>
                      </a:r>
                    </a:p>
                  </a:txBody>
                  <a:tcPr/>
                </a:tc>
                <a:tc>
                  <a:txBody>
                    <a:bodyPr/>
                    <a:lstStyle/>
                    <a:p>
                      <a:pPr marL="0" lvl="0" indent="0" algn="r">
                        <a:buNone/>
                      </a:pPr>
                      <a:r>
                        <a:t>94</a:t>
                      </a:r>
                    </a:p>
                  </a:txBody>
                  <a:tcPr/>
                </a:tc>
                <a:tc>
                  <a:txBody>
                    <a:bodyPr/>
                    <a:lstStyle/>
                    <a:p>
                      <a:pPr marL="0" lvl="0" indent="0" algn="r">
                        <a:buNone/>
                      </a:pPr>
                      <a:r>
                        <a:t>8.0</a:t>
                      </a:r>
                    </a:p>
                  </a:txBody>
                  <a:tcPr/>
                </a:tc>
                <a:extLst>
                  <a:ext uri="{0D108BD9-81ED-4DB2-BD59-A6C34878D82A}">
                    <a16:rowId xmlns:a16="http://schemas.microsoft.com/office/drawing/2014/main" val="10001"/>
                  </a:ext>
                </a:extLst>
              </a:tr>
              <a:tr h="311363">
                <a:tc>
                  <a:txBody>
                    <a:bodyPr/>
                    <a:lstStyle/>
                    <a:p>
                      <a:pPr marL="0" lvl="0" indent="0" algn="l">
                        <a:buNone/>
                      </a:pPr>
                      <a:r>
                        <a:t>Más bien satisfecho</a:t>
                      </a:r>
                    </a:p>
                  </a:txBody>
                  <a:tcPr/>
                </a:tc>
                <a:tc>
                  <a:txBody>
                    <a:bodyPr/>
                    <a:lstStyle/>
                    <a:p>
                      <a:pPr marL="0" lvl="0" indent="0" algn="r">
                        <a:buNone/>
                      </a:pPr>
                      <a:r>
                        <a:t>353</a:t>
                      </a:r>
                    </a:p>
                  </a:txBody>
                  <a:tcPr/>
                </a:tc>
                <a:tc>
                  <a:txBody>
                    <a:bodyPr/>
                    <a:lstStyle/>
                    <a:p>
                      <a:pPr marL="0" lvl="0" indent="0" algn="r">
                        <a:buNone/>
                      </a:pPr>
                      <a:r>
                        <a:t>30.1</a:t>
                      </a:r>
                    </a:p>
                  </a:txBody>
                  <a:tcPr/>
                </a:tc>
                <a:extLst>
                  <a:ext uri="{0D108BD9-81ED-4DB2-BD59-A6C34878D82A}">
                    <a16:rowId xmlns:a16="http://schemas.microsoft.com/office/drawing/2014/main" val="10002"/>
                  </a:ext>
                </a:extLst>
              </a:tr>
              <a:tr h="311363">
                <a:tc>
                  <a:txBody>
                    <a:bodyPr/>
                    <a:lstStyle/>
                    <a:p>
                      <a:pPr marL="0" lvl="0" indent="0" algn="l">
                        <a:buNone/>
                      </a:pPr>
                      <a:r>
                        <a:t>Nada satisfecho</a:t>
                      </a:r>
                    </a:p>
                  </a:txBody>
                  <a:tcPr/>
                </a:tc>
                <a:tc>
                  <a:txBody>
                    <a:bodyPr/>
                    <a:lstStyle/>
                    <a:p>
                      <a:pPr marL="0" lvl="0" indent="0" algn="r">
                        <a:buNone/>
                      </a:pPr>
                      <a:r>
                        <a:t>230</a:t>
                      </a:r>
                    </a:p>
                  </a:txBody>
                  <a:tcPr/>
                </a:tc>
                <a:tc>
                  <a:txBody>
                    <a:bodyPr/>
                    <a:lstStyle/>
                    <a:p>
                      <a:pPr marL="0" lvl="0" indent="0" algn="r">
                        <a:buNone/>
                      </a:pPr>
                      <a:r>
                        <a:t>19.6</a:t>
                      </a:r>
                    </a:p>
                  </a:txBody>
                  <a:tcPr/>
                </a:tc>
                <a:extLst>
                  <a:ext uri="{0D108BD9-81ED-4DB2-BD59-A6C34878D82A}">
                    <a16:rowId xmlns:a16="http://schemas.microsoft.com/office/drawing/2014/main" val="10003"/>
                  </a:ext>
                </a:extLst>
              </a:tr>
              <a:tr h="311363">
                <a:tc>
                  <a:txBody>
                    <a:bodyPr/>
                    <a:lstStyle/>
                    <a:p>
                      <a:pPr marL="0" lvl="0" indent="0" algn="l">
                        <a:buNone/>
                      </a:pPr>
                      <a:r>
                        <a:t>No muy satisfecho</a:t>
                      </a:r>
                    </a:p>
                  </a:txBody>
                  <a:tcPr/>
                </a:tc>
                <a:tc>
                  <a:txBody>
                    <a:bodyPr/>
                    <a:lstStyle/>
                    <a:p>
                      <a:pPr marL="0" lvl="0" indent="0" algn="r">
                        <a:buNone/>
                      </a:pPr>
                      <a:r>
                        <a:t>497</a:t>
                      </a:r>
                    </a:p>
                  </a:txBody>
                  <a:tcPr/>
                </a:tc>
                <a:tc>
                  <a:txBody>
                    <a:bodyPr/>
                    <a:lstStyle/>
                    <a:p>
                      <a:pPr marL="0" lvl="0" indent="0" algn="r">
                        <a:buNone/>
                      </a:pPr>
                      <a:r>
                        <a:rPr dirty="0"/>
                        <a:t>42.3</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marL="0" lvl="0" indent="0">
              <a:buNone/>
            </a:pPr>
            <a:r>
              <a:t>La distribución de la satisfacción con la democracia muestra un predominio de evaluaciones negativas respecto de su funcionamiento en Argentina durante 2023. La categoría más frecuente corresponde a los encuestados </a:t>
            </a:r>
            <a:r>
              <a:rPr b="1"/>
              <a:t>no muy satisfechos</a:t>
            </a:r>
            <a:r>
              <a:t> (42,3%), seguida por quienes se declaran </a:t>
            </a:r>
            <a:r>
              <a:rPr b="1"/>
              <a:t>más bien satisfechos</a:t>
            </a:r>
            <a:r>
              <a:t> (30,1%). Por su parte, un 19,6% señala estar </a:t>
            </a:r>
            <a:r>
              <a:rPr b="1"/>
              <a:t>nada satisfecho</a:t>
            </a:r>
            <a:r>
              <a:t>, mientras que solo un 8,0% manifiesta estar </a:t>
            </a:r>
            <a:r>
              <a:rPr b="1"/>
              <a:t>muy satisfecho</a:t>
            </a:r>
            <a:r>
              <a:t> con el funcionamiento de la democracia.</a:t>
            </a:r>
          </a:p>
          <a:p>
            <a:pPr marL="0" lvl="0" indent="0">
              <a:buNone/>
            </a:pPr>
            <a:r>
              <a:t>En términos generales, los resultados sugieren una percepción crítica de la democracia entre los encuestados, ya que más del 60% de la muestra se concentra en categorías de insatisfacción. Este hallazgo resulta consistente con el contexto político y social argentino de 2023, caracterizado por elevados niveles de incertidumbre económica, polarización política y cuestionamientos hacia las instituciones tradicionales.</a:t>
            </a:r>
          </a:p>
        </p:txBody>
      </p:sp>
      <p:pic>
        <p:nvPicPr>
          <p:cNvPr id="2" name="Picture 1" descr="trabajo2_files/figure-pptx/grafico-satisfaccion-democracia-1.png"/>
          <p:cNvPicPr>
            <a:picLocks noGrp="1" noChangeAspect="1"/>
          </p:cNvPicPr>
          <p:nvPr/>
        </p:nvPicPr>
        <p:blipFill>
          <a:blip r:embed="rId2"/>
          <a:stretch>
            <a:fillRect/>
          </a:stretch>
        </p:blipFill>
        <p:spPr bwMode="auto">
          <a:xfrm>
            <a:off x="3568700" y="863600"/>
            <a:ext cx="5105400" cy="2552700"/>
          </a:xfrm>
          <a:prstGeom prst="rect">
            <a:avLst/>
          </a:prstGeom>
          <a:noFill/>
          <a:ln w="9525">
            <a:noFill/>
            <a:headEnd/>
            <a:tailEnd/>
          </a:ln>
        </p:spPr>
      </p:pic>
      <p:sp>
        <p:nvSpPr>
          <p:cNvPr id="5" name="TextBox 3"/>
          <p:cNvSpPr txBox="1"/>
          <p:nvPr/>
        </p:nvSpPr>
        <p:spPr>
          <a:xfrm>
            <a:off x="3568700" y="4076700"/>
            <a:ext cx="5105400" cy="508000"/>
          </a:xfrm>
          <a:prstGeom prst="rect">
            <a:avLst/>
          </a:prstGeom>
          <a:noFill/>
        </p:spPr>
        <p:txBody>
          <a:bodyPr/>
          <a:lstStyle/>
          <a:p>
            <a:pPr marL="0" lvl="0" indent="0" algn="ctr">
              <a:buNone/>
            </a:pPr>
            <a:r>
              <a:t>Distribución de la satisfacción con la democracia en Argentina (2023)</a:t>
            </a:r>
          </a:p>
        </p:txBody>
      </p:sp>
      <p:sp>
        <p:nvSpPr>
          <p:cNvPr id="3" name="Content Placeholder 2"/>
          <p:cNvSpPr>
            <a:spLocks noGrp="1"/>
          </p:cNvSpPr>
          <p:nvPr>
            <p:ph idx="1"/>
          </p:nvPr>
        </p:nvSpPr>
        <p:spPr/>
        <p:txBody>
          <a:bodyPr>
            <a:normAutofit/>
          </a:bodyPr>
          <a:lstStyle/>
          <a:p>
            <a:pPr marL="0" lvl="0" indent="0">
              <a:spcBef>
                <a:spcPts val="3000"/>
              </a:spcBef>
              <a:buNone/>
            </a:pPr>
            <a:r>
              <a:rPr b="1" dirty="0" err="1"/>
              <a:t>Asociación</a:t>
            </a:r>
            <a:r>
              <a:rPr b="1" dirty="0"/>
              <a:t> entre </a:t>
            </a:r>
            <a:r>
              <a:rPr b="1" dirty="0" err="1"/>
              <a:t>sexo</a:t>
            </a:r>
            <a:r>
              <a:rPr b="1" dirty="0"/>
              <a:t> y </a:t>
            </a:r>
            <a:r>
              <a:rPr b="1" dirty="0" err="1"/>
              <a:t>satisfacción</a:t>
            </a:r>
            <a:r>
              <a:rPr b="1" dirty="0"/>
              <a:t> con la </a:t>
            </a:r>
            <a:r>
              <a:rPr b="1" dirty="0" err="1"/>
              <a:t>democracia</a:t>
            </a:r>
            <a:endParaRPr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288036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0">
                <a:tc>
                  <a:txBody>
                    <a:bodyPr/>
                    <a:lstStyle/>
                    <a:p>
                      <a:pPr marL="0" lvl="0" indent="0" algn="l">
                        <a:buNone/>
                      </a:pPr>
                      <a:r>
                        <a:t>Sexo</a:t>
                      </a:r>
                    </a:p>
                  </a:txBody>
                  <a:tcPr/>
                </a:tc>
                <a:tc>
                  <a:txBody>
                    <a:bodyPr/>
                    <a:lstStyle/>
                    <a:p>
                      <a:pPr marL="0" lvl="0" indent="0" algn="l">
                        <a:buNone/>
                      </a:pPr>
                      <a:r>
                        <a:t>Satisfacción con la democracia</a:t>
                      </a:r>
                    </a:p>
                  </a:txBody>
                  <a:tcPr/>
                </a:tc>
                <a:tc>
                  <a:txBody>
                    <a:bodyPr/>
                    <a:lstStyle/>
                    <a:p>
                      <a:pPr marL="0" lvl="0" indent="0" algn="r">
                        <a:buNone/>
                      </a:pPr>
                      <a:r>
                        <a:t>Frecuencia</a:t>
                      </a:r>
                    </a:p>
                  </a:txBody>
                  <a:tcPr/>
                </a:tc>
                <a:tc>
                  <a:txBody>
                    <a:bodyPr/>
                    <a:lstStyle/>
                    <a:p>
                      <a:pPr marL="0" lvl="0" indent="0" algn="r">
                        <a:buNone/>
                      </a:pPr>
                      <a:r>
                        <a:t>Porcentaje</a:t>
                      </a:r>
                    </a:p>
                  </a:txBody>
                  <a:tcPr/>
                </a:tc>
                <a:extLst>
                  <a:ext uri="{0D108BD9-81ED-4DB2-BD59-A6C34878D82A}">
                    <a16:rowId xmlns:a16="http://schemas.microsoft.com/office/drawing/2014/main" val="10000"/>
                  </a:ext>
                </a:extLst>
              </a:tr>
              <a:tr h="0">
                <a:tc>
                  <a:txBody>
                    <a:bodyPr/>
                    <a:lstStyle/>
                    <a:p>
                      <a:pPr marL="0" lvl="0" indent="0" algn="l">
                        <a:buNone/>
                      </a:pPr>
                      <a:r>
                        <a:t>Hombre</a:t>
                      </a:r>
                    </a:p>
                  </a:txBody>
                  <a:tcPr/>
                </a:tc>
                <a:tc>
                  <a:txBody>
                    <a:bodyPr/>
                    <a:lstStyle/>
                    <a:p>
                      <a:pPr marL="0" lvl="0" indent="0" algn="l">
                        <a:buNone/>
                      </a:pPr>
                      <a:r>
                        <a:t>Muy satisfecho</a:t>
                      </a:r>
                    </a:p>
                  </a:txBody>
                  <a:tcPr/>
                </a:tc>
                <a:tc>
                  <a:txBody>
                    <a:bodyPr/>
                    <a:lstStyle/>
                    <a:p>
                      <a:pPr marL="0" lvl="0" indent="0" algn="r">
                        <a:buNone/>
                      </a:pPr>
                      <a:r>
                        <a:t>41</a:t>
                      </a:r>
                    </a:p>
                  </a:txBody>
                  <a:tcPr/>
                </a:tc>
                <a:tc>
                  <a:txBody>
                    <a:bodyPr/>
                    <a:lstStyle/>
                    <a:p>
                      <a:pPr marL="0" lvl="0" indent="0" algn="r">
                        <a:buNone/>
                      </a:pPr>
                      <a:r>
                        <a:t>7.2</a:t>
                      </a:r>
                    </a:p>
                  </a:txBody>
                  <a:tcPr/>
                </a:tc>
                <a:extLst>
                  <a:ext uri="{0D108BD9-81ED-4DB2-BD59-A6C34878D82A}">
                    <a16:rowId xmlns:a16="http://schemas.microsoft.com/office/drawing/2014/main" val="10001"/>
                  </a:ext>
                </a:extLst>
              </a:tr>
              <a:tr h="0">
                <a:tc>
                  <a:txBody>
                    <a:bodyPr/>
                    <a:lstStyle/>
                    <a:p>
                      <a:pPr marL="0" lvl="0" indent="0" algn="l">
                        <a:buNone/>
                      </a:pPr>
                      <a:r>
                        <a:t>Hombre</a:t>
                      </a:r>
                    </a:p>
                  </a:txBody>
                  <a:tcPr/>
                </a:tc>
                <a:tc>
                  <a:txBody>
                    <a:bodyPr/>
                    <a:lstStyle/>
                    <a:p>
                      <a:pPr marL="0" lvl="0" indent="0" algn="l">
                        <a:buNone/>
                      </a:pPr>
                      <a:r>
                        <a:t>Más bien satisfecho</a:t>
                      </a:r>
                    </a:p>
                  </a:txBody>
                  <a:tcPr/>
                </a:tc>
                <a:tc>
                  <a:txBody>
                    <a:bodyPr/>
                    <a:lstStyle/>
                    <a:p>
                      <a:pPr marL="0" lvl="0" indent="0" algn="r">
                        <a:buNone/>
                      </a:pPr>
                      <a:r>
                        <a:t>158</a:t>
                      </a:r>
                    </a:p>
                  </a:txBody>
                  <a:tcPr/>
                </a:tc>
                <a:tc>
                  <a:txBody>
                    <a:bodyPr/>
                    <a:lstStyle/>
                    <a:p>
                      <a:pPr marL="0" lvl="0" indent="0" algn="r">
                        <a:buNone/>
                      </a:pPr>
                      <a:r>
                        <a:t>27.9</a:t>
                      </a:r>
                    </a:p>
                  </a:txBody>
                  <a:tcPr/>
                </a:tc>
                <a:extLst>
                  <a:ext uri="{0D108BD9-81ED-4DB2-BD59-A6C34878D82A}">
                    <a16:rowId xmlns:a16="http://schemas.microsoft.com/office/drawing/2014/main" val="10002"/>
                  </a:ext>
                </a:extLst>
              </a:tr>
              <a:tr h="0">
                <a:tc>
                  <a:txBody>
                    <a:bodyPr/>
                    <a:lstStyle/>
                    <a:p>
                      <a:pPr marL="0" lvl="0" indent="0" algn="l">
                        <a:buNone/>
                      </a:pPr>
                      <a:r>
                        <a:t>Hombre</a:t>
                      </a:r>
                    </a:p>
                  </a:txBody>
                  <a:tcPr/>
                </a:tc>
                <a:tc>
                  <a:txBody>
                    <a:bodyPr/>
                    <a:lstStyle/>
                    <a:p>
                      <a:pPr marL="0" lvl="0" indent="0" algn="l">
                        <a:buNone/>
                      </a:pPr>
                      <a:r>
                        <a:t>No muy satisfecho</a:t>
                      </a:r>
                    </a:p>
                  </a:txBody>
                  <a:tcPr/>
                </a:tc>
                <a:tc>
                  <a:txBody>
                    <a:bodyPr/>
                    <a:lstStyle/>
                    <a:p>
                      <a:pPr marL="0" lvl="0" indent="0" algn="r">
                        <a:buNone/>
                      </a:pPr>
                      <a:r>
                        <a:t>255</a:t>
                      </a:r>
                    </a:p>
                  </a:txBody>
                  <a:tcPr/>
                </a:tc>
                <a:tc>
                  <a:txBody>
                    <a:bodyPr/>
                    <a:lstStyle/>
                    <a:p>
                      <a:pPr marL="0" lvl="0" indent="0" algn="r">
                        <a:buNone/>
                      </a:pPr>
                      <a:r>
                        <a:t>45.1</a:t>
                      </a:r>
                    </a:p>
                  </a:txBody>
                  <a:tcPr/>
                </a:tc>
                <a:extLst>
                  <a:ext uri="{0D108BD9-81ED-4DB2-BD59-A6C34878D82A}">
                    <a16:rowId xmlns:a16="http://schemas.microsoft.com/office/drawing/2014/main" val="10003"/>
                  </a:ext>
                </a:extLst>
              </a:tr>
              <a:tr h="0">
                <a:tc>
                  <a:txBody>
                    <a:bodyPr/>
                    <a:lstStyle/>
                    <a:p>
                      <a:pPr marL="0" lvl="0" indent="0" algn="l">
                        <a:buNone/>
                      </a:pPr>
                      <a:r>
                        <a:t>Hombre</a:t>
                      </a:r>
                    </a:p>
                  </a:txBody>
                  <a:tcPr/>
                </a:tc>
                <a:tc>
                  <a:txBody>
                    <a:bodyPr/>
                    <a:lstStyle/>
                    <a:p>
                      <a:pPr marL="0" lvl="0" indent="0" algn="l">
                        <a:buNone/>
                      </a:pPr>
                      <a:r>
                        <a:t>Nada satisfecho</a:t>
                      </a:r>
                    </a:p>
                  </a:txBody>
                  <a:tcPr/>
                </a:tc>
                <a:tc>
                  <a:txBody>
                    <a:bodyPr/>
                    <a:lstStyle/>
                    <a:p>
                      <a:pPr marL="0" lvl="0" indent="0" algn="r">
                        <a:buNone/>
                      </a:pPr>
                      <a:r>
                        <a:t>112</a:t>
                      </a:r>
                    </a:p>
                  </a:txBody>
                  <a:tcPr/>
                </a:tc>
                <a:tc>
                  <a:txBody>
                    <a:bodyPr/>
                    <a:lstStyle/>
                    <a:p>
                      <a:pPr marL="0" lvl="0" indent="0" algn="r">
                        <a:buNone/>
                      </a:pPr>
                      <a:r>
                        <a:t>19.8</a:t>
                      </a:r>
                    </a:p>
                  </a:txBody>
                  <a:tcPr/>
                </a:tc>
                <a:extLst>
                  <a:ext uri="{0D108BD9-81ED-4DB2-BD59-A6C34878D82A}">
                    <a16:rowId xmlns:a16="http://schemas.microsoft.com/office/drawing/2014/main" val="10004"/>
                  </a:ext>
                </a:extLst>
              </a:tr>
              <a:tr h="0">
                <a:tc>
                  <a:txBody>
                    <a:bodyPr/>
                    <a:lstStyle/>
                    <a:p>
                      <a:pPr marL="0" lvl="0" indent="0" algn="l">
                        <a:buNone/>
                      </a:pPr>
                      <a:r>
                        <a:t>Mujer</a:t>
                      </a:r>
                    </a:p>
                  </a:txBody>
                  <a:tcPr/>
                </a:tc>
                <a:tc>
                  <a:txBody>
                    <a:bodyPr/>
                    <a:lstStyle/>
                    <a:p>
                      <a:pPr marL="0" lvl="0" indent="0" algn="l">
                        <a:buNone/>
                      </a:pPr>
                      <a:r>
                        <a:t>Muy satisfecho</a:t>
                      </a:r>
                    </a:p>
                  </a:txBody>
                  <a:tcPr/>
                </a:tc>
                <a:tc>
                  <a:txBody>
                    <a:bodyPr/>
                    <a:lstStyle/>
                    <a:p>
                      <a:pPr marL="0" lvl="0" indent="0" algn="r">
                        <a:buNone/>
                      </a:pPr>
                      <a:r>
                        <a:t>53</a:t>
                      </a:r>
                    </a:p>
                  </a:txBody>
                  <a:tcPr/>
                </a:tc>
                <a:tc>
                  <a:txBody>
                    <a:bodyPr/>
                    <a:lstStyle/>
                    <a:p>
                      <a:pPr marL="0" lvl="0" indent="0" algn="r">
                        <a:buNone/>
                      </a:pPr>
                      <a:r>
                        <a:t>8.7</a:t>
                      </a:r>
                    </a:p>
                  </a:txBody>
                  <a:tcPr/>
                </a:tc>
                <a:extLst>
                  <a:ext uri="{0D108BD9-81ED-4DB2-BD59-A6C34878D82A}">
                    <a16:rowId xmlns:a16="http://schemas.microsoft.com/office/drawing/2014/main" val="10005"/>
                  </a:ext>
                </a:extLst>
              </a:tr>
              <a:tr h="0">
                <a:tc>
                  <a:txBody>
                    <a:bodyPr/>
                    <a:lstStyle/>
                    <a:p>
                      <a:pPr marL="0" lvl="0" indent="0" algn="l">
                        <a:buNone/>
                      </a:pPr>
                      <a:r>
                        <a:t>Mujer</a:t>
                      </a:r>
                    </a:p>
                  </a:txBody>
                  <a:tcPr/>
                </a:tc>
                <a:tc>
                  <a:txBody>
                    <a:bodyPr/>
                    <a:lstStyle/>
                    <a:p>
                      <a:pPr marL="0" lvl="0" indent="0" algn="l">
                        <a:buNone/>
                      </a:pPr>
                      <a:r>
                        <a:t>Más bien satisfecho</a:t>
                      </a:r>
                    </a:p>
                  </a:txBody>
                  <a:tcPr/>
                </a:tc>
                <a:tc>
                  <a:txBody>
                    <a:bodyPr/>
                    <a:lstStyle/>
                    <a:p>
                      <a:pPr marL="0" lvl="0" indent="0" algn="r">
                        <a:buNone/>
                      </a:pPr>
                      <a:r>
                        <a:t>195</a:t>
                      </a:r>
                    </a:p>
                  </a:txBody>
                  <a:tcPr/>
                </a:tc>
                <a:tc>
                  <a:txBody>
                    <a:bodyPr/>
                    <a:lstStyle/>
                    <a:p>
                      <a:pPr marL="0" lvl="0" indent="0" algn="r">
                        <a:buNone/>
                      </a:pPr>
                      <a:r>
                        <a:t>32.1</a:t>
                      </a:r>
                    </a:p>
                  </a:txBody>
                  <a:tcPr/>
                </a:tc>
                <a:extLst>
                  <a:ext uri="{0D108BD9-81ED-4DB2-BD59-A6C34878D82A}">
                    <a16:rowId xmlns:a16="http://schemas.microsoft.com/office/drawing/2014/main" val="10006"/>
                  </a:ext>
                </a:extLst>
              </a:tr>
              <a:tr h="0">
                <a:tc>
                  <a:txBody>
                    <a:bodyPr/>
                    <a:lstStyle/>
                    <a:p>
                      <a:pPr marL="0" lvl="0" indent="0" algn="l">
                        <a:buNone/>
                      </a:pPr>
                      <a:r>
                        <a:t>Mujer</a:t>
                      </a:r>
                    </a:p>
                  </a:txBody>
                  <a:tcPr/>
                </a:tc>
                <a:tc>
                  <a:txBody>
                    <a:bodyPr/>
                    <a:lstStyle/>
                    <a:p>
                      <a:pPr marL="0" lvl="0" indent="0" algn="l">
                        <a:buNone/>
                      </a:pPr>
                      <a:r>
                        <a:t>No muy satisfecho</a:t>
                      </a:r>
                    </a:p>
                  </a:txBody>
                  <a:tcPr/>
                </a:tc>
                <a:tc>
                  <a:txBody>
                    <a:bodyPr/>
                    <a:lstStyle/>
                    <a:p>
                      <a:pPr marL="0" lvl="0" indent="0" algn="r">
                        <a:buNone/>
                      </a:pPr>
                      <a:r>
                        <a:t>242</a:t>
                      </a:r>
                    </a:p>
                  </a:txBody>
                  <a:tcPr/>
                </a:tc>
                <a:tc>
                  <a:txBody>
                    <a:bodyPr/>
                    <a:lstStyle/>
                    <a:p>
                      <a:pPr marL="0" lvl="0" indent="0" algn="r">
                        <a:buNone/>
                      </a:pPr>
                      <a:r>
                        <a:t>39.8</a:t>
                      </a:r>
                    </a:p>
                  </a:txBody>
                  <a:tcPr/>
                </a:tc>
                <a:extLst>
                  <a:ext uri="{0D108BD9-81ED-4DB2-BD59-A6C34878D82A}">
                    <a16:rowId xmlns:a16="http://schemas.microsoft.com/office/drawing/2014/main" val="10007"/>
                  </a:ext>
                </a:extLst>
              </a:tr>
              <a:tr h="0">
                <a:tc>
                  <a:txBody>
                    <a:bodyPr/>
                    <a:lstStyle/>
                    <a:p>
                      <a:pPr marL="0" lvl="0" indent="0" algn="l">
                        <a:buNone/>
                      </a:pPr>
                      <a:r>
                        <a:t>Mujer</a:t>
                      </a:r>
                    </a:p>
                  </a:txBody>
                  <a:tcPr/>
                </a:tc>
                <a:tc>
                  <a:txBody>
                    <a:bodyPr/>
                    <a:lstStyle/>
                    <a:p>
                      <a:pPr marL="0" lvl="0" indent="0" algn="l">
                        <a:buNone/>
                      </a:pPr>
                      <a:r>
                        <a:t>Nada satisfecho</a:t>
                      </a:r>
                    </a:p>
                  </a:txBody>
                  <a:tcPr/>
                </a:tc>
                <a:tc>
                  <a:txBody>
                    <a:bodyPr/>
                    <a:lstStyle/>
                    <a:p>
                      <a:pPr marL="0" lvl="0" indent="0" algn="r">
                        <a:buNone/>
                      </a:pPr>
                      <a:r>
                        <a:t>118</a:t>
                      </a:r>
                    </a:p>
                  </a:txBody>
                  <a:tcPr/>
                </a:tc>
                <a:tc>
                  <a:txBody>
                    <a:bodyPr/>
                    <a:lstStyle/>
                    <a:p>
                      <a:pPr marL="0" lvl="0" indent="0" algn="r">
                        <a:buNone/>
                      </a:pPr>
                      <a:r>
                        <a:t>19.4</a:t>
                      </a:r>
                    </a:p>
                  </a:txBody>
                  <a:tcPr/>
                </a:tc>
                <a:extLst>
                  <a:ext uri="{0D108BD9-81ED-4DB2-BD59-A6C34878D82A}">
                    <a16:rowId xmlns:a16="http://schemas.microsoft.com/office/drawing/2014/main" val="10008"/>
                  </a:ext>
                </a:extLst>
              </a:tr>
            </a:tbl>
          </a:graphicData>
        </a:graphic>
      </p:graphicFrame>
      <p:sp>
        <p:nvSpPr>
          <p:cNvPr id="2" name="TextBox 3"/>
          <p:cNvSpPr txBox="1"/>
          <p:nvPr/>
        </p:nvSpPr>
        <p:spPr>
          <a:xfrm>
            <a:off x="457200" y="4076700"/>
            <a:ext cx="8229600" cy="508000"/>
          </a:xfrm>
          <a:prstGeom prst="rect">
            <a:avLst/>
          </a:prstGeom>
          <a:noFill/>
        </p:spPr>
        <p:txBody>
          <a:bodyPr/>
          <a:lstStyle/>
          <a:p>
            <a:pPr marL="0" lvl="0" indent="0" algn="ctr">
              <a:buNone/>
            </a:pPr>
            <a:r>
              <a:t>Tabla 1. Distribución de la satisfacción con la democracia según sexo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41299" y="377171"/>
            <a:ext cx="8584293" cy="3518297"/>
          </a:xfrm>
        </p:spPr>
        <p:txBody>
          <a:bodyPr>
            <a:noAutofit/>
          </a:bodyPr>
          <a:lstStyle/>
          <a:p>
            <a:pPr lvl="0" indent="0">
              <a:buNone/>
            </a:pPr>
            <a:r>
              <a:rPr sz="1400" b="1" dirty="0" err="1"/>
              <a:t>Interpretación</a:t>
            </a:r>
            <a:r>
              <a:rPr sz="1400" b="1" dirty="0"/>
              <a:t> de </a:t>
            </a:r>
            <a:r>
              <a:rPr sz="1400" b="1" dirty="0" err="1"/>
              <a:t>pruebas</a:t>
            </a:r>
            <a:r>
              <a:rPr sz="1400" b="1" dirty="0"/>
              <a:t> </a:t>
            </a:r>
            <a:r>
              <a:rPr sz="1400" b="1" dirty="0" err="1"/>
              <a:t>asociación</a:t>
            </a:r>
            <a:r>
              <a:rPr sz="1400" b="1" dirty="0"/>
              <a:t> de </a:t>
            </a:r>
            <a:r>
              <a:rPr sz="1400" b="1" dirty="0" err="1"/>
              <a:t>sexo</a:t>
            </a:r>
            <a:r>
              <a:rPr sz="1400" b="1" dirty="0"/>
              <a:t> con la </a:t>
            </a:r>
            <a:r>
              <a:rPr sz="1400" b="1" dirty="0" err="1"/>
              <a:t>democracia</a:t>
            </a:r>
            <a:endParaRPr sz="1400" b="1" dirty="0"/>
          </a:p>
          <a:p>
            <a:pPr marL="0" lvl="0" indent="0">
              <a:buNone/>
            </a:pPr>
            <a:r>
              <a:rPr sz="1400" dirty="0"/>
              <a:t>La </a:t>
            </a:r>
            <a:r>
              <a:rPr sz="1400" dirty="0" err="1"/>
              <a:t>distribución</a:t>
            </a:r>
            <a:r>
              <a:rPr sz="1400" dirty="0"/>
              <a:t> de la </a:t>
            </a:r>
            <a:r>
              <a:rPr sz="1400" dirty="0" err="1"/>
              <a:t>satisfacción</a:t>
            </a:r>
            <a:r>
              <a:rPr sz="1400" dirty="0"/>
              <a:t> con la </a:t>
            </a:r>
            <a:r>
              <a:rPr sz="1400" dirty="0" err="1"/>
              <a:t>democracia</a:t>
            </a:r>
            <a:r>
              <a:rPr sz="1400" dirty="0"/>
              <a:t> </a:t>
            </a:r>
            <a:r>
              <a:rPr sz="1400" dirty="0" err="1"/>
              <a:t>presenta</a:t>
            </a:r>
            <a:r>
              <a:rPr sz="1400" dirty="0"/>
              <a:t> </a:t>
            </a:r>
            <a:r>
              <a:rPr sz="1400" dirty="0" err="1"/>
              <a:t>patrones</a:t>
            </a:r>
            <a:r>
              <a:rPr sz="1400" dirty="0"/>
              <a:t> </a:t>
            </a:r>
            <a:r>
              <a:rPr sz="1400" dirty="0" err="1"/>
              <a:t>similares</a:t>
            </a:r>
            <a:r>
              <a:rPr sz="1400" dirty="0"/>
              <a:t> entre hombres y </a:t>
            </a:r>
            <a:r>
              <a:rPr sz="1400" dirty="0" err="1"/>
              <a:t>mujeres</a:t>
            </a:r>
            <a:r>
              <a:rPr sz="1400" dirty="0"/>
              <a:t>. En ambos </a:t>
            </a:r>
            <a:r>
              <a:rPr sz="1400" dirty="0" err="1"/>
              <a:t>grupos</a:t>
            </a:r>
            <a:r>
              <a:rPr sz="1400" dirty="0"/>
              <a:t>, la </a:t>
            </a:r>
            <a:r>
              <a:rPr sz="1400" dirty="0" err="1"/>
              <a:t>categoría</a:t>
            </a:r>
            <a:r>
              <a:rPr sz="1400" dirty="0"/>
              <a:t> </a:t>
            </a:r>
            <a:r>
              <a:rPr sz="1400" dirty="0" err="1"/>
              <a:t>más</a:t>
            </a:r>
            <a:r>
              <a:rPr sz="1400" dirty="0"/>
              <a:t> </a:t>
            </a:r>
            <a:r>
              <a:rPr sz="1400" dirty="0" err="1"/>
              <a:t>frecuente</a:t>
            </a:r>
            <a:r>
              <a:rPr sz="1400" dirty="0"/>
              <a:t> </a:t>
            </a:r>
            <a:r>
              <a:rPr sz="1400" dirty="0" err="1"/>
              <a:t>corresponde</a:t>
            </a:r>
            <a:r>
              <a:rPr sz="1400" dirty="0"/>
              <a:t> a </a:t>
            </a:r>
            <a:r>
              <a:rPr sz="1400" dirty="0" err="1"/>
              <a:t>los</a:t>
            </a:r>
            <a:r>
              <a:rPr sz="1400" dirty="0"/>
              <a:t> </a:t>
            </a:r>
            <a:r>
              <a:rPr sz="1400" dirty="0" err="1"/>
              <a:t>encuestados</a:t>
            </a:r>
            <a:r>
              <a:rPr sz="1400" dirty="0"/>
              <a:t> </a:t>
            </a:r>
            <a:r>
              <a:rPr sz="1400" i="1" dirty="0"/>
              <a:t>no </a:t>
            </a:r>
            <a:r>
              <a:rPr sz="1400" i="1" dirty="0" err="1"/>
              <a:t>muy</a:t>
            </a:r>
            <a:r>
              <a:rPr sz="1400" i="1" dirty="0"/>
              <a:t> </a:t>
            </a:r>
            <a:r>
              <a:rPr sz="1400" i="1" dirty="0" err="1"/>
              <a:t>satisfechos</a:t>
            </a:r>
            <a:r>
              <a:rPr sz="1400" dirty="0"/>
              <a:t> con la </a:t>
            </a:r>
            <a:r>
              <a:rPr sz="1400" dirty="0" err="1"/>
              <a:t>democracia</a:t>
            </a:r>
            <a:r>
              <a:rPr sz="1400" dirty="0"/>
              <a:t>, </a:t>
            </a:r>
            <a:r>
              <a:rPr sz="1400" dirty="0" err="1"/>
              <a:t>alcanzando</a:t>
            </a:r>
            <a:r>
              <a:rPr sz="1400" dirty="0"/>
              <a:t> un 45,1% entre </a:t>
            </a:r>
            <a:r>
              <a:rPr sz="1400" dirty="0" err="1"/>
              <a:t>los</a:t>
            </a:r>
            <a:r>
              <a:rPr sz="1400" dirty="0"/>
              <a:t> hombres y un 39,8% entre las </a:t>
            </a:r>
            <a:r>
              <a:rPr sz="1400" dirty="0" err="1"/>
              <a:t>mujeres</a:t>
            </a:r>
            <a:r>
              <a:rPr sz="1400" dirty="0"/>
              <a:t>. </a:t>
            </a:r>
            <a:r>
              <a:rPr sz="1400" dirty="0" err="1"/>
              <a:t>Asimismo</a:t>
            </a:r>
            <a:r>
              <a:rPr sz="1400" dirty="0"/>
              <a:t>, las </a:t>
            </a:r>
            <a:r>
              <a:rPr sz="1400" dirty="0" err="1"/>
              <a:t>mujeres</a:t>
            </a:r>
            <a:r>
              <a:rPr sz="1400" dirty="0"/>
              <a:t> </a:t>
            </a:r>
            <a:r>
              <a:rPr sz="1400" dirty="0" err="1"/>
              <a:t>presentan</a:t>
            </a:r>
            <a:r>
              <a:rPr sz="1400" dirty="0"/>
              <a:t> </a:t>
            </a:r>
            <a:r>
              <a:rPr sz="1400" dirty="0" err="1"/>
              <a:t>una</a:t>
            </a:r>
            <a:r>
              <a:rPr sz="1400" dirty="0"/>
              <a:t> </a:t>
            </a:r>
            <a:r>
              <a:rPr sz="1400" dirty="0" err="1"/>
              <a:t>proporción</a:t>
            </a:r>
            <a:r>
              <a:rPr sz="1400" dirty="0"/>
              <a:t> </a:t>
            </a:r>
            <a:r>
              <a:rPr sz="1400" dirty="0" err="1"/>
              <a:t>ligeramente</a:t>
            </a:r>
            <a:r>
              <a:rPr sz="1400" dirty="0"/>
              <a:t> mayor de personas </a:t>
            </a:r>
            <a:r>
              <a:rPr sz="1400" i="1" dirty="0" err="1"/>
              <a:t>más</a:t>
            </a:r>
            <a:r>
              <a:rPr sz="1400" i="1" dirty="0"/>
              <a:t> bien </a:t>
            </a:r>
            <a:r>
              <a:rPr sz="1400" i="1" dirty="0" err="1"/>
              <a:t>satisfechas</a:t>
            </a:r>
            <a:r>
              <a:rPr sz="1400" dirty="0"/>
              <a:t> (32,1%) </a:t>
            </a:r>
            <a:r>
              <a:rPr sz="1400" dirty="0" err="1"/>
              <a:t>en</a:t>
            </a:r>
            <a:r>
              <a:rPr sz="1400" dirty="0"/>
              <a:t> </a:t>
            </a:r>
            <a:r>
              <a:rPr sz="1400" dirty="0" err="1"/>
              <a:t>comparación</a:t>
            </a:r>
            <a:r>
              <a:rPr sz="1400" dirty="0"/>
              <a:t> con </a:t>
            </a:r>
            <a:r>
              <a:rPr sz="1400" dirty="0" err="1"/>
              <a:t>los</a:t>
            </a:r>
            <a:r>
              <a:rPr sz="1400" dirty="0"/>
              <a:t> hombres (27,9%). Por </a:t>
            </a:r>
            <a:r>
              <a:rPr sz="1400" dirty="0" err="1"/>
              <a:t>su</a:t>
            </a:r>
            <a:r>
              <a:rPr sz="1400" dirty="0"/>
              <a:t> </a:t>
            </a:r>
            <a:r>
              <a:rPr sz="1400" dirty="0" err="1"/>
              <a:t>parte</a:t>
            </a:r>
            <a:r>
              <a:rPr sz="1400" dirty="0"/>
              <a:t>, las </a:t>
            </a:r>
            <a:r>
              <a:rPr sz="1400" dirty="0" err="1"/>
              <a:t>categorías</a:t>
            </a:r>
            <a:r>
              <a:rPr sz="1400" dirty="0"/>
              <a:t> </a:t>
            </a:r>
            <a:r>
              <a:rPr sz="1400" i="1" dirty="0" err="1"/>
              <a:t>muy</a:t>
            </a:r>
            <a:r>
              <a:rPr sz="1400" i="1" dirty="0"/>
              <a:t> </a:t>
            </a:r>
            <a:r>
              <a:rPr sz="1400" i="1" dirty="0" err="1"/>
              <a:t>satisfecho</a:t>
            </a:r>
            <a:r>
              <a:rPr sz="1400" dirty="0"/>
              <a:t> y </a:t>
            </a:r>
            <a:r>
              <a:rPr sz="1400" i="1" dirty="0"/>
              <a:t>nada </a:t>
            </a:r>
            <a:r>
              <a:rPr sz="1400" i="1" dirty="0" err="1"/>
              <a:t>satisfecho</a:t>
            </a:r>
            <a:r>
              <a:rPr sz="1400" dirty="0"/>
              <a:t> </a:t>
            </a:r>
            <a:r>
              <a:rPr sz="1400" dirty="0" err="1"/>
              <a:t>registran</a:t>
            </a:r>
            <a:r>
              <a:rPr sz="1400" dirty="0"/>
              <a:t> </a:t>
            </a:r>
            <a:r>
              <a:rPr sz="1400" dirty="0" err="1"/>
              <a:t>porcentajes</a:t>
            </a:r>
            <a:r>
              <a:rPr sz="1400" dirty="0"/>
              <a:t> </a:t>
            </a:r>
            <a:r>
              <a:rPr sz="1400" dirty="0" err="1"/>
              <a:t>relativamente</a:t>
            </a:r>
            <a:r>
              <a:rPr sz="1400" dirty="0"/>
              <a:t> </a:t>
            </a:r>
            <a:r>
              <a:rPr sz="1400" dirty="0" err="1"/>
              <a:t>similares</a:t>
            </a:r>
            <a:r>
              <a:rPr sz="1400" dirty="0"/>
              <a:t> entre ambos </a:t>
            </a:r>
            <a:r>
              <a:rPr sz="1400" dirty="0" err="1"/>
              <a:t>sexos</a:t>
            </a:r>
            <a:r>
              <a:rPr sz="1400" dirty="0"/>
              <a:t>.</a:t>
            </a:r>
          </a:p>
        </p:txBody>
      </p:sp>
      <p:pic>
        <p:nvPicPr>
          <p:cNvPr id="2" name="Picture 1" descr="trabajo2_files/figure-pptx/grafico-edad-satisfaccion-1.png"/>
          <p:cNvPicPr>
            <a:picLocks noGrp="1" noChangeAspect="1"/>
          </p:cNvPicPr>
          <p:nvPr/>
        </p:nvPicPr>
        <p:blipFill>
          <a:blip r:embed="rId2"/>
          <a:stretch>
            <a:fillRect/>
          </a:stretch>
        </p:blipFill>
        <p:spPr bwMode="auto">
          <a:xfrm>
            <a:off x="1420586" y="2136320"/>
            <a:ext cx="5576207" cy="2788104"/>
          </a:xfrm>
          <a:prstGeom prst="rect">
            <a:avLst/>
          </a:prstGeom>
          <a:noFill/>
          <a:ln w="9525">
            <a:noFill/>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83723" y="308883"/>
            <a:ext cx="8703127" cy="3518297"/>
          </a:xfrm>
        </p:spPr>
        <p:txBody>
          <a:bodyPr>
            <a:noAutofit/>
          </a:bodyPr>
          <a:lstStyle/>
          <a:p>
            <a:r>
              <a:rPr lang="es-ES" sz="1200" b="1" dirty="0"/>
              <a:t>Asociación entre nivel educativo y satisfacción con la democracia</a:t>
            </a:r>
          </a:p>
          <a:p>
            <a:pPr lvl="0" indent="0">
              <a:buNone/>
            </a:pPr>
            <a:r>
              <a:rPr sz="1200" dirty="0">
                <a:latin typeface="Courier"/>
              </a:rPr>
              <a:t>
</a:t>
            </a:r>
            <a:r>
              <a:rPr sz="1200" dirty="0"/>
              <a:t>El </a:t>
            </a:r>
            <a:r>
              <a:rPr sz="1200" dirty="0" err="1"/>
              <a:t>gráfico</a:t>
            </a:r>
            <a:r>
              <a:rPr sz="1200" dirty="0"/>
              <a:t> de </a:t>
            </a:r>
            <a:r>
              <a:rPr sz="1200" dirty="0" err="1"/>
              <a:t>cajas</a:t>
            </a:r>
            <a:r>
              <a:rPr sz="1200" dirty="0"/>
              <a:t> </a:t>
            </a:r>
            <a:r>
              <a:rPr sz="1200" dirty="0" err="1"/>
              <a:t>sugiere</a:t>
            </a:r>
            <a:r>
              <a:rPr sz="1200" dirty="0"/>
              <a:t> </a:t>
            </a:r>
            <a:r>
              <a:rPr sz="1200" dirty="0" err="1"/>
              <a:t>algunas</a:t>
            </a:r>
            <a:r>
              <a:rPr sz="1200" dirty="0"/>
              <a:t> </a:t>
            </a:r>
            <a:r>
              <a:rPr sz="1200" dirty="0" err="1"/>
              <a:t>diferencias</a:t>
            </a:r>
            <a:r>
              <a:rPr sz="1200" dirty="0"/>
              <a:t> </a:t>
            </a:r>
            <a:r>
              <a:rPr sz="1200" dirty="0" err="1"/>
              <a:t>en</a:t>
            </a:r>
            <a:r>
              <a:rPr sz="1200" dirty="0"/>
              <a:t> la </a:t>
            </a:r>
            <a:r>
              <a:rPr sz="1200" dirty="0" err="1"/>
              <a:t>distribución</a:t>
            </a:r>
            <a:r>
              <a:rPr sz="1200" dirty="0"/>
              <a:t> de la </a:t>
            </a:r>
            <a:r>
              <a:rPr sz="1200" dirty="0" err="1"/>
              <a:t>edad</a:t>
            </a:r>
            <a:r>
              <a:rPr sz="1200" dirty="0"/>
              <a:t> </a:t>
            </a:r>
            <a:r>
              <a:rPr sz="1200" dirty="0" err="1"/>
              <a:t>según</a:t>
            </a:r>
            <a:r>
              <a:rPr sz="1200" dirty="0"/>
              <a:t> </a:t>
            </a:r>
            <a:r>
              <a:rPr sz="1200" dirty="0" err="1"/>
              <a:t>el</a:t>
            </a:r>
            <a:r>
              <a:rPr sz="1200" dirty="0"/>
              <a:t> </a:t>
            </a:r>
            <a:r>
              <a:rPr sz="1200" dirty="0" err="1"/>
              <a:t>nivel</a:t>
            </a:r>
            <a:r>
              <a:rPr sz="1200" dirty="0"/>
              <a:t> de </a:t>
            </a:r>
            <a:r>
              <a:rPr sz="1200" dirty="0" err="1"/>
              <a:t>satisfacción</a:t>
            </a:r>
            <a:r>
              <a:rPr sz="1200" dirty="0"/>
              <a:t> con la </a:t>
            </a:r>
            <a:r>
              <a:rPr sz="1200" dirty="0" err="1"/>
              <a:t>democracia</a:t>
            </a:r>
            <a:r>
              <a:rPr sz="1200" dirty="0"/>
              <a:t>. En particular, </a:t>
            </a:r>
            <a:r>
              <a:rPr sz="1200" dirty="0" err="1"/>
              <a:t>los</a:t>
            </a:r>
            <a:r>
              <a:rPr sz="1200" dirty="0"/>
              <a:t> </a:t>
            </a:r>
            <a:r>
              <a:rPr sz="1200" dirty="0" err="1"/>
              <a:t>encuestados</a:t>
            </a:r>
            <a:r>
              <a:rPr sz="1200" dirty="0"/>
              <a:t> </a:t>
            </a:r>
            <a:r>
              <a:rPr sz="1200" dirty="0" err="1"/>
              <a:t>que</a:t>
            </a:r>
            <a:r>
              <a:rPr sz="1200" dirty="0"/>
              <a:t> se </a:t>
            </a:r>
            <a:r>
              <a:rPr sz="1200" dirty="0" err="1"/>
              <a:t>declaran</a:t>
            </a:r>
            <a:r>
              <a:rPr sz="1200" dirty="0"/>
              <a:t> </a:t>
            </a:r>
            <a:r>
              <a:rPr sz="1200" dirty="0" err="1"/>
              <a:t>muy</a:t>
            </a:r>
            <a:r>
              <a:rPr sz="1200" dirty="0"/>
              <a:t> </a:t>
            </a:r>
            <a:r>
              <a:rPr sz="1200" dirty="0" err="1"/>
              <a:t>satisfechos</a:t>
            </a:r>
            <a:r>
              <a:rPr sz="1200" dirty="0"/>
              <a:t> </a:t>
            </a:r>
            <a:r>
              <a:rPr sz="1200" dirty="0" err="1"/>
              <a:t>presentan</a:t>
            </a:r>
            <a:r>
              <a:rPr sz="1200" dirty="0"/>
              <a:t> </a:t>
            </a:r>
            <a:r>
              <a:rPr sz="1200" dirty="0" err="1"/>
              <a:t>una</a:t>
            </a:r>
            <a:r>
              <a:rPr sz="1200" dirty="0"/>
              <a:t> </a:t>
            </a:r>
            <a:r>
              <a:rPr sz="1200" dirty="0" err="1"/>
              <a:t>mediana</a:t>
            </a:r>
            <a:r>
              <a:rPr sz="1200" dirty="0"/>
              <a:t> de </a:t>
            </a:r>
            <a:r>
              <a:rPr sz="1200" dirty="0" err="1"/>
              <a:t>edad</a:t>
            </a:r>
            <a:r>
              <a:rPr sz="1200" dirty="0"/>
              <a:t> </a:t>
            </a:r>
            <a:r>
              <a:rPr sz="1200" dirty="0" err="1"/>
              <a:t>ligeramente</a:t>
            </a:r>
            <a:r>
              <a:rPr sz="1200" dirty="0"/>
              <a:t> inferior al resto de </a:t>
            </a:r>
            <a:r>
              <a:rPr sz="1200" dirty="0" err="1"/>
              <a:t>los</a:t>
            </a:r>
            <a:r>
              <a:rPr sz="1200" dirty="0"/>
              <a:t> </a:t>
            </a:r>
            <a:r>
              <a:rPr sz="1200" dirty="0" err="1"/>
              <a:t>grupos</a:t>
            </a:r>
            <a:r>
              <a:rPr sz="1200" dirty="0"/>
              <a:t>. Sin embargo, las </a:t>
            </a:r>
            <a:r>
              <a:rPr sz="1200" dirty="0" err="1"/>
              <a:t>distribuciones</a:t>
            </a:r>
            <a:r>
              <a:rPr sz="1200" dirty="0"/>
              <a:t> </a:t>
            </a:r>
            <a:r>
              <a:rPr sz="1200" dirty="0" err="1"/>
              <a:t>muestran</a:t>
            </a:r>
            <a:r>
              <a:rPr sz="1200" dirty="0"/>
              <a:t> un </a:t>
            </a:r>
            <a:r>
              <a:rPr sz="1200" dirty="0" err="1"/>
              <a:t>amplio</a:t>
            </a:r>
            <a:r>
              <a:rPr sz="1200" dirty="0"/>
              <a:t> </a:t>
            </a:r>
            <a:r>
              <a:rPr sz="1200" dirty="0" err="1"/>
              <a:t>grado</a:t>
            </a:r>
            <a:r>
              <a:rPr sz="1200" dirty="0"/>
              <a:t> de </a:t>
            </a:r>
            <a:r>
              <a:rPr sz="1200" dirty="0" err="1"/>
              <a:t>superposición</a:t>
            </a:r>
            <a:r>
              <a:rPr sz="1200" dirty="0"/>
              <a:t> entre </a:t>
            </a:r>
            <a:r>
              <a:rPr sz="1200" dirty="0" err="1"/>
              <a:t>categorías</a:t>
            </a:r>
            <a:r>
              <a:rPr sz="1200" dirty="0"/>
              <a:t>.</a:t>
            </a:r>
            <a:endParaRPr lang="es-CL" sz="1200" dirty="0"/>
          </a:p>
          <a:p>
            <a:pPr lvl="0" indent="0">
              <a:buNone/>
            </a:pPr>
            <a:r>
              <a:rPr sz="1200" dirty="0"/>
              <a:t>no </a:t>
            </a:r>
            <a:r>
              <a:rPr sz="1200" dirty="0" err="1"/>
              <a:t>existe</a:t>
            </a:r>
            <a:r>
              <a:rPr sz="1200" dirty="0"/>
              <a:t> </a:t>
            </a:r>
            <a:r>
              <a:rPr sz="1200" dirty="0" err="1"/>
              <a:t>evidencia</a:t>
            </a:r>
            <a:r>
              <a:rPr sz="1200" dirty="0"/>
              <a:t> </a:t>
            </a:r>
            <a:r>
              <a:rPr sz="1200" dirty="0" err="1"/>
              <a:t>suficiente</a:t>
            </a:r>
            <a:r>
              <a:rPr sz="1200" dirty="0"/>
              <a:t> para </a:t>
            </a:r>
            <a:r>
              <a:rPr sz="1200" dirty="0" err="1"/>
              <a:t>afirmar</a:t>
            </a:r>
            <a:r>
              <a:rPr sz="1200" dirty="0"/>
              <a:t> </a:t>
            </a:r>
            <a:r>
              <a:rPr sz="1200" dirty="0" err="1"/>
              <a:t>que</a:t>
            </a:r>
            <a:r>
              <a:rPr sz="1200" dirty="0"/>
              <a:t> la </a:t>
            </a:r>
            <a:r>
              <a:rPr sz="1200" dirty="0" err="1"/>
              <a:t>edad</a:t>
            </a:r>
            <a:r>
              <a:rPr sz="1200" dirty="0"/>
              <a:t> se </a:t>
            </a:r>
            <a:r>
              <a:rPr sz="1200" dirty="0" err="1"/>
              <a:t>asocie</a:t>
            </a:r>
            <a:r>
              <a:rPr sz="1200" dirty="0"/>
              <a:t> con </a:t>
            </a:r>
            <a:r>
              <a:rPr sz="1200" dirty="0" err="1"/>
              <a:t>el</a:t>
            </a:r>
            <a:r>
              <a:rPr sz="1200" dirty="0"/>
              <a:t> </a:t>
            </a:r>
            <a:r>
              <a:rPr sz="1200" dirty="0" err="1"/>
              <a:t>nivel</a:t>
            </a:r>
            <a:r>
              <a:rPr sz="1200" dirty="0"/>
              <a:t> de </a:t>
            </a:r>
            <a:r>
              <a:rPr sz="1200" dirty="0" err="1"/>
              <a:t>satisfacción</a:t>
            </a:r>
            <a:r>
              <a:rPr sz="1200" dirty="0"/>
              <a:t> con la </a:t>
            </a:r>
            <a:r>
              <a:rPr sz="1200" dirty="0" err="1"/>
              <a:t>democracia</a:t>
            </a:r>
            <a:r>
              <a:rPr sz="1200" dirty="0"/>
              <a:t> </a:t>
            </a:r>
            <a:r>
              <a:rPr sz="1200" dirty="0" err="1"/>
              <a:t>en</a:t>
            </a:r>
            <a:r>
              <a:rPr sz="1200" dirty="0"/>
              <a:t> Argentina </a:t>
            </a:r>
            <a:r>
              <a:rPr sz="1200" dirty="0" err="1"/>
              <a:t>durante</a:t>
            </a:r>
            <a:r>
              <a:rPr sz="1200" dirty="0"/>
              <a:t> 2023.No obstante, </a:t>
            </a:r>
            <a:r>
              <a:rPr sz="1200" dirty="0" err="1"/>
              <a:t>el</a:t>
            </a:r>
            <a:r>
              <a:rPr sz="1200" dirty="0"/>
              <a:t> valor p </a:t>
            </a:r>
            <a:r>
              <a:rPr sz="1200" dirty="0" err="1"/>
              <a:t>obtenido</a:t>
            </a:r>
            <a:r>
              <a:rPr sz="1200" dirty="0"/>
              <a:t> se </a:t>
            </a:r>
            <a:r>
              <a:rPr sz="1200" dirty="0" err="1"/>
              <a:t>aproxima</a:t>
            </a:r>
            <a:r>
              <a:rPr sz="1200" dirty="0"/>
              <a:t> al umbral de </a:t>
            </a:r>
            <a:r>
              <a:rPr sz="1200" dirty="0" err="1"/>
              <a:t>significancia</a:t>
            </a:r>
            <a:r>
              <a:rPr sz="1200" dirty="0"/>
              <a:t> </a:t>
            </a:r>
            <a:r>
              <a:rPr sz="1200" dirty="0" err="1"/>
              <a:t>estadística</a:t>
            </a:r>
            <a:r>
              <a:rPr sz="1200" dirty="0"/>
              <a:t>, </a:t>
            </a:r>
            <a:r>
              <a:rPr sz="1200" dirty="0" err="1"/>
              <a:t>por</a:t>
            </a:r>
            <a:r>
              <a:rPr sz="1200" dirty="0"/>
              <a:t> lo </a:t>
            </a:r>
            <a:r>
              <a:rPr sz="1200" dirty="0" err="1"/>
              <a:t>que</a:t>
            </a:r>
            <a:r>
              <a:rPr sz="1200" dirty="0"/>
              <a:t> </a:t>
            </a:r>
            <a:r>
              <a:rPr sz="1200" dirty="0" err="1"/>
              <a:t>los</a:t>
            </a:r>
            <a:r>
              <a:rPr sz="1200" dirty="0"/>
              <a:t> </a:t>
            </a:r>
            <a:r>
              <a:rPr sz="1200" dirty="0" err="1"/>
              <a:t>resultados</a:t>
            </a:r>
            <a:r>
              <a:rPr sz="1200" dirty="0"/>
              <a:t> </a:t>
            </a:r>
            <a:r>
              <a:rPr sz="1200" dirty="0" err="1"/>
              <a:t>sugieren</a:t>
            </a:r>
            <a:r>
              <a:rPr sz="1200" dirty="0"/>
              <a:t> </a:t>
            </a:r>
            <a:r>
              <a:rPr sz="1200" dirty="0" err="1"/>
              <a:t>una</a:t>
            </a:r>
            <a:r>
              <a:rPr sz="1200" dirty="0"/>
              <a:t> </a:t>
            </a:r>
            <a:r>
              <a:rPr sz="1200" dirty="0" err="1"/>
              <a:t>posible</a:t>
            </a:r>
            <a:r>
              <a:rPr sz="1200" dirty="0"/>
              <a:t> </a:t>
            </a:r>
            <a:r>
              <a:rPr sz="1200" dirty="0" err="1"/>
              <a:t>tendencia</a:t>
            </a:r>
            <a:r>
              <a:rPr sz="1200" dirty="0"/>
              <a:t> </a:t>
            </a:r>
            <a:r>
              <a:rPr sz="1200" dirty="0" err="1"/>
              <a:t>que</a:t>
            </a:r>
            <a:r>
              <a:rPr sz="1200" dirty="0"/>
              <a:t> </a:t>
            </a:r>
            <a:r>
              <a:rPr sz="1200" dirty="0" err="1"/>
              <a:t>podría</a:t>
            </a:r>
            <a:r>
              <a:rPr sz="1200" dirty="0"/>
              <a:t> </a:t>
            </a:r>
            <a:r>
              <a:rPr sz="1200" dirty="0" err="1"/>
              <a:t>explorarse</a:t>
            </a:r>
            <a:r>
              <a:rPr sz="1200" dirty="0"/>
              <a:t> con mayor </a:t>
            </a:r>
            <a:r>
              <a:rPr sz="1200" dirty="0" err="1"/>
              <a:t>profundidad</a:t>
            </a:r>
            <a:r>
              <a:rPr sz="1200" dirty="0"/>
              <a:t> </a:t>
            </a:r>
            <a:r>
              <a:rPr sz="1200" dirty="0" err="1"/>
              <a:t>en</a:t>
            </a:r>
            <a:r>
              <a:rPr sz="1200" dirty="0"/>
              <a:t> </a:t>
            </a:r>
            <a:r>
              <a:rPr sz="1200" dirty="0" err="1"/>
              <a:t>futuras</a:t>
            </a:r>
            <a:r>
              <a:rPr sz="1200" dirty="0"/>
              <a:t> </a:t>
            </a:r>
            <a:r>
              <a:rPr sz="1200" dirty="0" err="1"/>
              <a:t>investigaciones</a:t>
            </a:r>
            <a:r>
              <a:rPr sz="1200" dirty="0"/>
              <a:t>.</a:t>
            </a:r>
          </a:p>
        </p:txBody>
      </p:sp>
      <p:pic>
        <p:nvPicPr>
          <p:cNvPr id="2" name="Picture 1" descr="trabajo2_files/figure-pptx/grafico-educacion-satisfaccion-1.png"/>
          <p:cNvPicPr>
            <a:picLocks noGrp="1" noChangeAspect="1"/>
          </p:cNvPicPr>
          <p:nvPr/>
        </p:nvPicPr>
        <p:blipFill>
          <a:blip r:embed="rId2"/>
          <a:stretch>
            <a:fillRect/>
          </a:stretch>
        </p:blipFill>
        <p:spPr bwMode="auto">
          <a:xfrm>
            <a:off x="1515835" y="2171700"/>
            <a:ext cx="5332186" cy="2666093"/>
          </a:xfrm>
          <a:prstGeom prst="rect">
            <a:avLst/>
          </a:prstGeom>
          <a:noFill/>
          <a:ln w="9525">
            <a:noFill/>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400051" y="107044"/>
            <a:ext cx="7927520" cy="3998630"/>
          </a:xfrm>
        </p:spPr>
        <p:txBody>
          <a:bodyPr>
            <a:noAutofit/>
          </a:bodyPr>
          <a:lstStyle/>
          <a:p>
            <a:pPr lvl="0" indent="0">
              <a:buNone/>
            </a:pPr>
            <a:r>
              <a:rPr sz="1000" dirty="0">
                <a:latin typeface="Courier"/>
              </a:rPr>
              <a:t>
</a:t>
            </a:r>
            <a:r>
              <a:rPr sz="1200" dirty="0"/>
              <a:t>El </a:t>
            </a:r>
            <a:r>
              <a:rPr sz="1200" dirty="0" err="1"/>
              <a:t>gráfico</a:t>
            </a:r>
            <a:r>
              <a:rPr sz="1200" dirty="0"/>
              <a:t> de </a:t>
            </a:r>
            <a:r>
              <a:rPr sz="1200" dirty="0" err="1"/>
              <a:t>cajas</a:t>
            </a:r>
            <a:r>
              <a:rPr sz="1200" dirty="0"/>
              <a:t> </a:t>
            </a:r>
            <a:r>
              <a:rPr sz="1200" dirty="0" err="1"/>
              <a:t>muestra</a:t>
            </a:r>
            <a:r>
              <a:rPr sz="1200" dirty="0"/>
              <a:t> </a:t>
            </a:r>
            <a:r>
              <a:rPr sz="1200" dirty="0" err="1"/>
              <a:t>distribuciones</a:t>
            </a:r>
            <a:r>
              <a:rPr sz="1200" dirty="0"/>
              <a:t> </a:t>
            </a:r>
            <a:r>
              <a:rPr sz="1200" dirty="0" err="1"/>
              <a:t>muy</a:t>
            </a:r>
            <a:r>
              <a:rPr sz="1200" dirty="0"/>
              <a:t> </a:t>
            </a:r>
            <a:r>
              <a:rPr sz="1200" dirty="0" err="1"/>
              <a:t>similares</a:t>
            </a:r>
            <a:r>
              <a:rPr sz="1200" dirty="0"/>
              <a:t> del </a:t>
            </a:r>
            <a:r>
              <a:rPr sz="1200" dirty="0" err="1"/>
              <a:t>nivel</a:t>
            </a:r>
            <a:r>
              <a:rPr sz="1200" dirty="0"/>
              <a:t> </a:t>
            </a:r>
            <a:r>
              <a:rPr sz="1200" dirty="0" err="1"/>
              <a:t>educativo</a:t>
            </a:r>
            <a:r>
              <a:rPr sz="1200" dirty="0"/>
              <a:t> entre las </a:t>
            </a:r>
            <a:r>
              <a:rPr sz="1200" dirty="0" err="1"/>
              <a:t>distintas</a:t>
            </a:r>
            <a:r>
              <a:rPr sz="1200" dirty="0"/>
              <a:t> </a:t>
            </a:r>
            <a:r>
              <a:rPr sz="1200" dirty="0" err="1"/>
              <a:t>categorías</a:t>
            </a:r>
            <a:r>
              <a:rPr sz="1200" dirty="0"/>
              <a:t> de </a:t>
            </a:r>
            <a:r>
              <a:rPr sz="1200" dirty="0" err="1"/>
              <a:t>satisfacción</a:t>
            </a:r>
            <a:r>
              <a:rPr sz="1200" dirty="0"/>
              <a:t> con la </a:t>
            </a:r>
            <a:r>
              <a:rPr sz="1200" dirty="0" err="1"/>
              <a:t>democracia</a:t>
            </a:r>
            <a:r>
              <a:rPr sz="1200" dirty="0"/>
              <a:t>. Las </a:t>
            </a:r>
            <a:r>
              <a:rPr sz="1200" dirty="0" err="1"/>
              <a:t>medianas</a:t>
            </a:r>
            <a:r>
              <a:rPr sz="1200" dirty="0"/>
              <a:t> </a:t>
            </a:r>
            <a:r>
              <a:rPr sz="1200" dirty="0" err="1"/>
              <a:t>presentan</a:t>
            </a:r>
            <a:r>
              <a:rPr sz="1200" dirty="0"/>
              <a:t> </a:t>
            </a:r>
            <a:r>
              <a:rPr sz="1200" dirty="0" err="1"/>
              <a:t>valores</a:t>
            </a:r>
            <a:r>
              <a:rPr sz="1200" dirty="0"/>
              <a:t> </a:t>
            </a:r>
            <a:r>
              <a:rPr sz="1200" dirty="0" err="1"/>
              <a:t>prácticamente</a:t>
            </a:r>
            <a:r>
              <a:rPr sz="1200" dirty="0"/>
              <a:t> </a:t>
            </a:r>
            <a:r>
              <a:rPr sz="1200" dirty="0" err="1"/>
              <a:t>equivalentes</a:t>
            </a:r>
            <a:r>
              <a:rPr sz="1200" dirty="0"/>
              <a:t> y </a:t>
            </a:r>
            <a:r>
              <a:rPr sz="1200" dirty="0" err="1"/>
              <a:t>existe</a:t>
            </a:r>
            <a:r>
              <a:rPr sz="1200" dirty="0"/>
              <a:t> un </a:t>
            </a:r>
            <a:r>
              <a:rPr sz="1200" dirty="0" err="1"/>
              <a:t>amplio</a:t>
            </a:r>
            <a:r>
              <a:rPr sz="1200" dirty="0"/>
              <a:t> </a:t>
            </a:r>
            <a:r>
              <a:rPr sz="1200" dirty="0" err="1"/>
              <a:t>solapamiento</a:t>
            </a:r>
            <a:r>
              <a:rPr sz="1200" dirty="0"/>
              <a:t> entre </a:t>
            </a:r>
            <a:r>
              <a:rPr sz="1200" dirty="0" err="1"/>
              <a:t>los</a:t>
            </a:r>
            <a:r>
              <a:rPr sz="1200" dirty="0"/>
              <a:t> </a:t>
            </a:r>
            <a:r>
              <a:rPr sz="1200" dirty="0" err="1"/>
              <a:t>rangos</a:t>
            </a:r>
            <a:r>
              <a:rPr sz="1200" dirty="0"/>
              <a:t> </a:t>
            </a:r>
            <a:r>
              <a:rPr sz="1200" dirty="0" err="1"/>
              <a:t>intercuartílicos</a:t>
            </a:r>
            <a:r>
              <a:rPr sz="1200" dirty="0"/>
              <a:t> de </a:t>
            </a:r>
            <a:r>
              <a:rPr sz="1200" dirty="0" err="1"/>
              <a:t>los</a:t>
            </a:r>
            <a:r>
              <a:rPr sz="1200" dirty="0"/>
              <a:t> </a:t>
            </a:r>
            <a:r>
              <a:rPr sz="1200" dirty="0" err="1"/>
              <a:t>grupos</a:t>
            </a:r>
            <a:r>
              <a:rPr sz="1200" dirty="0"/>
              <a:t> </a:t>
            </a:r>
            <a:r>
              <a:rPr sz="1200" dirty="0" err="1"/>
              <a:t>analizados</a:t>
            </a:r>
            <a:r>
              <a:rPr sz="1200" dirty="0"/>
              <a:t>, lo </a:t>
            </a:r>
            <a:r>
              <a:rPr sz="1200" dirty="0" err="1"/>
              <a:t>que</a:t>
            </a:r>
            <a:r>
              <a:rPr sz="1200" dirty="0"/>
              <a:t> </a:t>
            </a:r>
            <a:r>
              <a:rPr sz="1200" dirty="0" err="1"/>
              <a:t>sugiere</a:t>
            </a:r>
            <a:r>
              <a:rPr sz="1200" dirty="0"/>
              <a:t> </a:t>
            </a:r>
            <a:r>
              <a:rPr sz="1200" dirty="0" err="1"/>
              <a:t>diferencias</a:t>
            </a:r>
            <a:r>
              <a:rPr sz="1200" dirty="0"/>
              <a:t> </a:t>
            </a:r>
            <a:r>
              <a:rPr sz="1200" dirty="0" err="1"/>
              <a:t>reducidas</a:t>
            </a:r>
            <a:r>
              <a:rPr sz="1200" dirty="0"/>
              <a:t> </a:t>
            </a:r>
            <a:r>
              <a:rPr sz="1200" dirty="0" err="1"/>
              <a:t>en</a:t>
            </a:r>
            <a:r>
              <a:rPr sz="1200" dirty="0"/>
              <a:t> </a:t>
            </a:r>
            <a:r>
              <a:rPr sz="1200" dirty="0" err="1"/>
              <a:t>los</a:t>
            </a:r>
            <a:r>
              <a:rPr sz="1200" dirty="0"/>
              <a:t> </a:t>
            </a:r>
            <a:r>
              <a:rPr sz="1200" dirty="0" err="1"/>
              <a:t>niveles</a:t>
            </a:r>
            <a:r>
              <a:rPr sz="1200" dirty="0"/>
              <a:t> </a:t>
            </a:r>
            <a:r>
              <a:rPr sz="1200" dirty="0" err="1"/>
              <a:t>educativos</a:t>
            </a:r>
            <a:r>
              <a:rPr sz="1200" dirty="0"/>
              <a:t> </a:t>
            </a:r>
            <a:r>
              <a:rPr sz="1200" dirty="0" err="1"/>
              <a:t>según</a:t>
            </a:r>
            <a:r>
              <a:rPr sz="1200" dirty="0"/>
              <a:t> </a:t>
            </a:r>
            <a:r>
              <a:rPr sz="1200" dirty="0" err="1"/>
              <a:t>el</a:t>
            </a:r>
            <a:r>
              <a:rPr sz="1200" dirty="0"/>
              <a:t> </a:t>
            </a:r>
            <a:r>
              <a:rPr sz="1200" dirty="0" err="1"/>
              <a:t>grado</a:t>
            </a:r>
            <a:r>
              <a:rPr sz="1200" dirty="0"/>
              <a:t> de </a:t>
            </a:r>
            <a:r>
              <a:rPr sz="1200" dirty="0" err="1"/>
              <a:t>satisfacción</a:t>
            </a:r>
            <a:r>
              <a:rPr sz="1200" dirty="0"/>
              <a:t> </a:t>
            </a:r>
            <a:r>
              <a:rPr sz="1200" dirty="0" err="1"/>
              <a:t>democrática</a:t>
            </a:r>
            <a:r>
              <a:rPr sz="1200" dirty="0"/>
              <a:t>.</a:t>
            </a:r>
          </a:p>
          <a:p>
            <a:pPr marL="0" lvl="0" indent="0">
              <a:buNone/>
            </a:pPr>
            <a:r>
              <a:rPr sz="1200" dirty="0"/>
              <a:t>Dado </a:t>
            </a:r>
            <a:r>
              <a:rPr sz="1200" dirty="0" err="1"/>
              <a:t>que</a:t>
            </a:r>
            <a:r>
              <a:rPr sz="1200" dirty="0"/>
              <a:t> las variables </a:t>
            </a:r>
            <a:r>
              <a:rPr sz="1200" dirty="0" err="1"/>
              <a:t>sociodemográficas</a:t>
            </a:r>
            <a:r>
              <a:rPr sz="1200" dirty="0"/>
              <a:t> </a:t>
            </a:r>
            <a:r>
              <a:rPr sz="1200" dirty="0" err="1"/>
              <a:t>consideradas</a:t>
            </a:r>
            <a:r>
              <a:rPr sz="1200" dirty="0"/>
              <a:t> no </a:t>
            </a:r>
            <a:r>
              <a:rPr sz="1200" dirty="0" err="1"/>
              <a:t>mostraron</a:t>
            </a:r>
            <a:r>
              <a:rPr sz="1200" dirty="0"/>
              <a:t> </a:t>
            </a:r>
            <a:r>
              <a:rPr sz="1200" dirty="0" err="1"/>
              <a:t>asociaciones</a:t>
            </a:r>
            <a:r>
              <a:rPr sz="1200" dirty="0"/>
              <a:t> </a:t>
            </a:r>
            <a:r>
              <a:rPr sz="1200" dirty="0" err="1"/>
              <a:t>estadísticamente</a:t>
            </a:r>
            <a:r>
              <a:rPr sz="1200" dirty="0"/>
              <a:t> </a:t>
            </a:r>
            <a:r>
              <a:rPr sz="1200" dirty="0" err="1"/>
              <a:t>significativas</a:t>
            </a:r>
            <a:r>
              <a:rPr sz="1200" dirty="0"/>
              <a:t> con la </a:t>
            </a:r>
            <a:r>
              <a:rPr sz="1200" dirty="0" err="1"/>
              <a:t>satisfacción</a:t>
            </a:r>
            <a:r>
              <a:rPr sz="1200" dirty="0"/>
              <a:t> </a:t>
            </a:r>
            <a:r>
              <a:rPr sz="1200" dirty="0" err="1"/>
              <a:t>democrática</a:t>
            </a:r>
            <a:r>
              <a:rPr sz="1200" dirty="0"/>
              <a:t>, se </a:t>
            </a:r>
            <a:r>
              <a:rPr sz="1200" dirty="0" err="1"/>
              <a:t>incorporó</a:t>
            </a:r>
            <a:r>
              <a:rPr sz="1200" dirty="0"/>
              <a:t> </a:t>
            </a:r>
            <a:r>
              <a:rPr sz="1200" dirty="0" err="1"/>
              <a:t>adicionalmente</a:t>
            </a:r>
            <a:r>
              <a:rPr sz="1200" dirty="0"/>
              <a:t> la variable </a:t>
            </a:r>
            <a:r>
              <a:rPr sz="1200" dirty="0" err="1"/>
              <a:t>aprobación</a:t>
            </a:r>
            <a:r>
              <a:rPr sz="1200" dirty="0"/>
              <a:t> </a:t>
            </a:r>
            <a:r>
              <a:rPr sz="1200" dirty="0" err="1"/>
              <a:t>presidencial</a:t>
            </a:r>
            <a:r>
              <a:rPr sz="1200" dirty="0"/>
              <a:t> con fines </a:t>
            </a:r>
            <a:r>
              <a:rPr sz="1200" dirty="0" err="1"/>
              <a:t>exploratorios</a:t>
            </a:r>
            <a:r>
              <a:rPr sz="1200" dirty="0"/>
              <a:t>. El </a:t>
            </a:r>
            <a:r>
              <a:rPr sz="1200" dirty="0" err="1"/>
              <a:t>objetivo</a:t>
            </a:r>
            <a:r>
              <a:rPr sz="1200" dirty="0"/>
              <a:t> </a:t>
            </a:r>
            <a:r>
              <a:rPr sz="1200" dirty="0" err="1"/>
              <a:t>fue</a:t>
            </a:r>
            <a:r>
              <a:rPr sz="1200" dirty="0"/>
              <a:t> </a:t>
            </a:r>
            <a:r>
              <a:rPr sz="1200" dirty="0" err="1"/>
              <a:t>evaluar</a:t>
            </a:r>
            <a:r>
              <a:rPr sz="1200" dirty="0"/>
              <a:t> </a:t>
            </a:r>
            <a:r>
              <a:rPr sz="1200" dirty="0" err="1"/>
              <a:t>si</a:t>
            </a:r>
            <a:r>
              <a:rPr sz="1200" dirty="0"/>
              <a:t> variables de </a:t>
            </a:r>
            <a:r>
              <a:rPr sz="1200" dirty="0" err="1"/>
              <a:t>carácter</a:t>
            </a:r>
            <a:r>
              <a:rPr sz="1200" dirty="0"/>
              <a:t> </a:t>
            </a:r>
            <a:r>
              <a:rPr sz="1200" dirty="0" err="1"/>
              <a:t>político</a:t>
            </a:r>
            <a:r>
              <a:rPr sz="1200" dirty="0"/>
              <a:t> </a:t>
            </a:r>
            <a:r>
              <a:rPr sz="1200" dirty="0" err="1"/>
              <a:t>permiten</a:t>
            </a:r>
            <a:r>
              <a:rPr sz="1200" dirty="0"/>
              <a:t> </a:t>
            </a:r>
            <a:r>
              <a:rPr sz="1200" dirty="0" err="1"/>
              <a:t>explicar</a:t>
            </a:r>
            <a:r>
              <a:rPr sz="1200" dirty="0"/>
              <a:t> </a:t>
            </a:r>
            <a:r>
              <a:rPr sz="1200" dirty="0" err="1"/>
              <a:t>en</a:t>
            </a:r>
            <a:r>
              <a:rPr sz="1200" dirty="0"/>
              <a:t> mayor </a:t>
            </a:r>
            <a:r>
              <a:rPr sz="1200" dirty="0" err="1"/>
              <a:t>medida</a:t>
            </a:r>
            <a:r>
              <a:rPr sz="1200" dirty="0"/>
              <a:t> las </a:t>
            </a:r>
            <a:r>
              <a:rPr sz="1200" dirty="0" err="1"/>
              <a:t>diferencias</a:t>
            </a:r>
            <a:r>
              <a:rPr sz="1200" dirty="0"/>
              <a:t> </a:t>
            </a:r>
            <a:r>
              <a:rPr sz="1200" dirty="0" err="1"/>
              <a:t>observadas</a:t>
            </a:r>
            <a:r>
              <a:rPr sz="1200" dirty="0"/>
              <a:t> </a:t>
            </a:r>
            <a:r>
              <a:rPr sz="1200" dirty="0" err="1"/>
              <a:t>en</a:t>
            </a:r>
            <a:r>
              <a:rPr sz="1200" dirty="0"/>
              <a:t> </a:t>
            </a:r>
            <a:r>
              <a:rPr sz="1200" dirty="0" err="1"/>
              <a:t>los</a:t>
            </a:r>
            <a:r>
              <a:rPr sz="1200" dirty="0"/>
              <a:t> </a:t>
            </a:r>
            <a:r>
              <a:rPr sz="1200" dirty="0" err="1"/>
              <a:t>niveles</a:t>
            </a:r>
            <a:r>
              <a:rPr sz="1200" dirty="0"/>
              <a:t> de </a:t>
            </a:r>
            <a:r>
              <a:rPr sz="1200" dirty="0" err="1"/>
              <a:t>satisfacción</a:t>
            </a:r>
            <a:r>
              <a:rPr sz="1200" dirty="0"/>
              <a:t> con la </a:t>
            </a:r>
            <a:r>
              <a:rPr sz="1200" dirty="0" err="1"/>
              <a:t>democracia</a:t>
            </a:r>
            <a:r>
              <a:rPr sz="1200" dirty="0"/>
              <a:t>.</a:t>
            </a:r>
          </a:p>
          <a:p>
            <a:pPr marL="0" lvl="0" indent="0">
              <a:buNone/>
            </a:pPr>
            <a:r>
              <a:rPr sz="1200" dirty="0"/>
              <a:t>Con </a:t>
            </a:r>
            <a:r>
              <a:rPr sz="1200" dirty="0" err="1"/>
              <a:t>el</a:t>
            </a:r>
            <a:r>
              <a:rPr sz="1200" dirty="0"/>
              <a:t> </a:t>
            </a:r>
            <a:r>
              <a:rPr sz="1200" dirty="0" err="1"/>
              <a:t>objetivo</a:t>
            </a:r>
            <a:r>
              <a:rPr sz="1200" dirty="0"/>
              <a:t> de </a:t>
            </a:r>
            <a:r>
              <a:rPr sz="1200" dirty="0" err="1"/>
              <a:t>profundizar</a:t>
            </a:r>
            <a:r>
              <a:rPr sz="1200" dirty="0"/>
              <a:t> </a:t>
            </a:r>
            <a:r>
              <a:rPr sz="1200" dirty="0" err="1"/>
              <a:t>el</a:t>
            </a:r>
            <a:r>
              <a:rPr sz="1200" dirty="0"/>
              <a:t> </a:t>
            </a:r>
            <a:r>
              <a:rPr sz="1200" dirty="0" err="1"/>
              <a:t>análisis</a:t>
            </a:r>
            <a:r>
              <a:rPr sz="1200" dirty="0"/>
              <a:t>, se </a:t>
            </a:r>
            <a:r>
              <a:rPr sz="1200" dirty="0" err="1"/>
              <a:t>estimaron</a:t>
            </a:r>
            <a:r>
              <a:rPr sz="1200" dirty="0"/>
              <a:t> dos </a:t>
            </a:r>
            <a:r>
              <a:rPr sz="1200" dirty="0" err="1"/>
              <a:t>modelos</a:t>
            </a:r>
            <a:r>
              <a:rPr sz="1200" dirty="0"/>
              <a:t> de </a:t>
            </a:r>
            <a:r>
              <a:rPr sz="1200" dirty="0" err="1"/>
              <a:t>regresión</a:t>
            </a:r>
            <a:r>
              <a:rPr sz="1200" dirty="0"/>
              <a:t> </a:t>
            </a:r>
            <a:r>
              <a:rPr sz="1200" dirty="0" err="1"/>
              <a:t>logística</a:t>
            </a:r>
            <a:r>
              <a:rPr sz="1200" dirty="0"/>
              <a:t> ordinal </a:t>
            </a:r>
            <a:r>
              <a:rPr sz="1200" dirty="0" err="1"/>
              <a:t>utilizando</a:t>
            </a:r>
            <a:r>
              <a:rPr sz="1200" dirty="0"/>
              <a:t> </a:t>
            </a:r>
            <a:r>
              <a:rPr sz="1200" dirty="0" err="1"/>
              <a:t>como</a:t>
            </a:r>
            <a:r>
              <a:rPr sz="1200" dirty="0"/>
              <a:t> variable </a:t>
            </a:r>
            <a:r>
              <a:rPr sz="1200" dirty="0" err="1"/>
              <a:t>dependiente</a:t>
            </a:r>
            <a:r>
              <a:rPr sz="1200" dirty="0"/>
              <a:t> la </a:t>
            </a:r>
            <a:r>
              <a:rPr sz="1200" dirty="0" err="1"/>
              <a:t>satisfacción</a:t>
            </a:r>
            <a:r>
              <a:rPr sz="1200" dirty="0"/>
              <a:t> con la </a:t>
            </a:r>
            <a:r>
              <a:rPr sz="1200" dirty="0" err="1"/>
              <a:t>democracia</a:t>
            </a:r>
            <a:r>
              <a:rPr sz="1200" dirty="0"/>
              <a:t>. El primer </a:t>
            </a:r>
            <a:r>
              <a:rPr sz="1200" dirty="0" err="1"/>
              <a:t>modelo</a:t>
            </a:r>
            <a:r>
              <a:rPr sz="1200" dirty="0"/>
              <a:t> </a:t>
            </a:r>
            <a:r>
              <a:rPr sz="1200" dirty="0" err="1"/>
              <a:t>incorporó</a:t>
            </a:r>
            <a:r>
              <a:rPr sz="1200" dirty="0"/>
              <a:t> </a:t>
            </a:r>
            <a:r>
              <a:rPr sz="1200" dirty="0" err="1"/>
              <a:t>únicamente</a:t>
            </a:r>
            <a:r>
              <a:rPr sz="1200" dirty="0"/>
              <a:t> variables </a:t>
            </a:r>
            <a:r>
              <a:rPr sz="1200" dirty="0" err="1"/>
              <a:t>sociodemográficas</a:t>
            </a:r>
            <a:r>
              <a:rPr sz="1200" dirty="0"/>
              <a:t> (</a:t>
            </a:r>
            <a:r>
              <a:rPr sz="1200" dirty="0" err="1"/>
              <a:t>sexo</a:t>
            </a:r>
            <a:r>
              <a:rPr sz="1200" dirty="0"/>
              <a:t>, </a:t>
            </a:r>
            <a:r>
              <a:rPr sz="1200" dirty="0" err="1"/>
              <a:t>edad</a:t>
            </a:r>
            <a:r>
              <a:rPr sz="1200" dirty="0"/>
              <a:t> y </a:t>
            </a:r>
            <a:r>
              <a:rPr sz="1200" dirty="0" err="1"/>
              <a:t>nivel</a:t>
            </a:r>
            <a:r>
              <a:rPr sz="1200" dirty="0"/>
              <a:t> </a:t>
            </a:r>
            <a:r>
              <a:rPr sz="1200" dirty="0" err="1"/>
              <a:t>educativo</a:t>
            </a:r>
            <a:r>
              <a:rPr sz="1200" dirty="0"/>
              <a:t>), </a:t>
            </a:r>
            <a:r>
              <a:rPr sz="1200" dirty="0" err="1"/>
              <a:t>mientras</a:t>
            </a:r>
            <a:r>
              <a:rPr sz="1200" dirty="0"/>
              <a:t> </a:t>
            </a:r>
            <a:r>
              <a:rPr sz="1200" dirty="0" err="1"/>
              <a:t>que</a:t>
            </a:r>
            <a:r>
              <a:rPr sz="1200" dirty="0"/>
              <a:t> </a:t>
            </a:r>
            <a:r>
              <a:rPr sz="1200" dirty="0" err="1"/>
              <a:t>el</a:t>
            </a:r>
            <a:r>
              <a:rPr sz="1200" dirty="0"/>
              <a:t> </a:t>
            </a:r>
            <a:r>
              <a:rPr sz="1200" dirty="0" err="1"/>
              <a:t>segundo</a:t>
            </a:r>
            <a:r>
              <a:rPr sz="1200" dirty="0"/>
              <a:t> </a:t>
            </a:r>
            <a:r>
              <a:rPr sz="1200" dirty="0" err="1"/>
              <a:t>agregó</a:t>
            </a:r>
            <a:r>
              <a:rPr sz="1200" dirty="0"/>
              <a:t> la variable de </a:t>
            </a:r>
            <a:r>
              <a:rPr sz="1200" dirty="0" err="1"/>
              <a:t>aprobación</a:t>
            </a:r>
            <a:r>
              <a:rPr sz="1200" dirty="0"/>
              <a:t> </a:t>
            </a:r>
            <a:r>
              <a:rPr sz="1200" dirty="0" err="1"/>
              <a:t>presidencial</a:t>
            </a:r>
            <a:r>
              <a:rPr sz="1200" dirty="0">
                <a:latin typeface="Courier"/>
              </a:rPr>
              <a:t>
</a:t>
            </a:r>
            <a:r>
              <a:rPr sz="1000" dirty="0">
                <a:latin typeface="Courier"/>
              </a:rPr>
              <a:t>
</a:t>
            </a:r>
            <a:endParaRPr sz="1000" b="1" dirty="0"/>
          </a:p>
        </p:txBody>
      </p:sp>
      <p:pic>
        <p:nvPicPr>
          <p:cNvPr id="2" name="Picture 1" descr="trabajo2_files/figure-pptx/grafico-probabilidades-predichas-1.png"/>
          <p:cNvPicPr>
            <a:picLocks noGrp="1" noChangeAspect="1"/>
          </p:cNvPicPr>
          <p:nvPr/>
        </p:nvPicPr>
        <p:blipFill>
          <a:blip r:embed="rId2"/>
          <a:stretch>
            <a:fillRect/>
          </a:stretch>
        </p:blipFill>
        <p:spPr bwMode="auto">
          <a:xfrm>
            <a:off x="1641929" y="2571750"/>
            <a:ext cx="5105400" cy="2552700"/>
          </a:xfrm>
          <a:prstGeom prst="rect">
            <a:avLst/>
          </a:prstGeom>
          <a:noFill/>
          <a:ln w="9525">
            <a:noFill/>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lvl="0" indent="0">
              <a:buNone/>
            </a:pPr>
            <a:r>
              <a:rPr sz="1600" dirty="0"/>
              <a:t>El </a:t>
            </a:r>
            <a:r>
              <a:rPr sz="1600" dirty="0" err="1"/>
              <a:t>gráfico</a:t>
            </a:r>
            <a:r>
              <a:rPr sz="1600" dirty="0"/>
              <a:t> </a:t>
            </a:r>
            <a:r>
              <a:rPr sz="1600" dirty="0" err="1"/>
              <a:t>presenta</a:t>
            </a:r>
            <a:r>
              <a:rPr sz="1600" dirty="0"/>
              <a:t> las </a:t>
            </a:r>
            <a:r>
              <a:rPr sz="1600" dirty="0" err="1"/>
              <a:t>probabilidades</a:t>
            </a:r>
            <a:r>
              <a:rPr sz="1600" dirty="0"/>
              <a:t> </a:t>
            </a:r>
            <a:r>
              <a:rPr sz="1600" dirty="0" err="1"/>
              <a:t>predichas</a:t>
            </a:r>
            <a:r>
              <a:rPr sz="1600" dirty="0"/>
              <a:t> de </a:t>
            </a:r>
            <a:r>
              <a:rPr sz="1600" dirty="0" err="1"/>
              <a:t>manifestar</a:t>
            </a:r>
            <a:r>
              <a:rPr sz="1600" dirty="0"/>
              <a:t> </a:t>
            </a:r>
            <a:r>
              <a:rPr sz="1600" dirty="0" err="1"/>
              <a:t>satisfacción</a:t>
            </a:r>
            <a:r>
              <a:rPr sz="1600" dirty="0"/>
              <a:t> con la </a:t>
            </a:r>
            <a:r>
              <a:rPr sz="1600" dirty="0" err="1"/>
              <a:t>democracia</a:t>
            </a:r>
            <a:r>
              <a:rPr sz="1600" dirty="0"/>
              <a:t> a </a:t>
            </a:r>
            <a:r>
              <a:rPr sz="1600" dirty="0" err="1"/>
              <a:t>partir</a:t>
            </a:r>
            <a:r>
              <a:rPr sz="1600" dirty="0"/>
              <a:t> del </a:t>
            </a:r>
            <a:r>
              <a:rPr sz="1600" dirty="0" err="1"/>
              <a:t>modelo</a:t>
            </a:r>
            <a:r>
              <a:rPr sz="1600" dirty="0"/>
              <a:t> de </a:t>
            </a:r>
            <a:r>
              <a:rPr sz="1600" dirty="0" err="1"/>
              <a:t>regresión</a:t>
            </a:r>
            <a:r>
              <a:rPr sz="1600" dirty="0"/>
              <a:t> </a:t>
            </a:r>
            <a:r>
              <a:rPr sz="1600" dirty="0" err="1"/>
              <a:t>logística</a:t>
            </a:r>
            <a:r>
              <a:rPr sz="1600" dirty="0"/>
              <a:t> </a:t>
            </a:r>
            <a:r>
              <a:rPr sz="1600" dirty="0" err="1"/>
              <a:t>binaria</a:t>
            </a:r>
            <a:r>
              <a:rPr sz="1600" dirty="0"/>
              <a:t>, </a:t>
            </a:r>
            <a:r>
              <a:rPr sz="1600" dirty="0" err="1"/>
              <a:t>manteniendo</a:t>
            </a:r>
            <a:r>
              <a:rPr sz="1600" dirty="0"/>
              <a:t> </a:t>
            </a:r>
            <a:r>
              <a:rPr sz="1600" dirty="0" err="1"/>
              <a:t>constantes</a:t>
            </a:r>
            <a:r>
              <a:rPr sz="1600" dirty="0"/>
              <a:t> la </a:t>
            </a:r>
            <a:r>
              <a:rPr sz="1600" dirty="0" err="1"/>
              <a:t>edad</a:t>
            </a:r>
            <a:r>
              <a:rPr sz="1600" dirty="0"/>
              <a:t> y </a:t>
            </a:r>
            <a:r>
              <a:rPr sz="1600" dirty="0" err="1"/>
              <a:t>el</a:t>
            </a:r>
            <a:r>
              <a:rPr sz="1600" dirty="0"/>
              <a:t> </a:t>
            </a:r>
            <a:r>
              <a:rPr sz="1600" dirty="0" err="1"/>
              <a:t>nivel</a:t>
            </a:r>
            <a:r>
              <a:rPr sz="1600" dirty="0"/>
              <a:t> </a:t>
            </a:r>
            <a:r>
              <a:rPr sz="1600" dirty="0" err="1"/>
              <a:t>educativo</a:t>
            </a:r>
            <a:r>
              <a:rPr sz="1600" dirty="0"/>
              <a:t> </a:t>
            </a:r>
            <a:r>
              <a:rPr sz="1600" dirty="0" err="1"/>
              <a:t>en</a:t>
            </a:r>
            <a:r>
              <a:rPr sz="1600" dirty="0"/>
              <a:t> sus </a:t>
            </a:r>
            <a:r>
              <a:rPr sz="1600" dirty="0" err="1"/>
              <a:t>valores</a:t>
            </a:r>
            <a:r>
              <a:rPr sz="1600" dirty="0"/>
              <a:t> </a:t>
            </a:r>
            <a:r>
              <a:rPr sz="1600" dirty="0" err="1"/>
              <a:t>promedio</a:t>
            </a:r>
            <a:r>
              <a:rPr sz="1600" dirty="0"/>
              <a:t>. Los </a:t>
            </a:r>
            <a:r>
              <a:rPr sz="1600" dirty="0" err="1"/>
              <a:t>resultados</a:t>
            </a:r>
            <a:r>
              <a:rPr sz="1600" dirty="0"/>
              <a:t> </a:t>
            </a:r>
            <a:r>
              <a:rPr sz="1600" dirty="0" err="1"/>
              <a:t>muestran</a:t>
            </a:r>
            <a:r>
              <a:rPr sz="1600" dirty="0"/>
              <a:t> </a:t>
            </a:r>
            <a:r>
              <a:rPr sz="1600" dirty="0" err="1"/>
              <a:t>diferencias</a:t>
            </a:r>
            <a:r>
              <a:rPr sz="1600" dirty="0"/>
              <a:t> </a:t>
            </a:r>
            <a:r>
              <a:rPr sz="1600" dirty="0" err="1"/>
              <a:t>sustantivas</a:t>
            </a:r>
            <a:r>
              <a:rPr sz="1600" dirty="0"/>
              <a:t> </a:t>
            </a:r>
            <a:r>
              <a:rPr sz="1600" dirty="0" err="1"/>
              <a:t>según</a:t>
            </a:r>
            <a:r>
              <a:rPr sz="1600" dirty="0"/>
              <a:t> la </a:t>
            </a:r>
            <a:r>
              <a:rPr sz="1600" dirty="0" err="1"/>
              <a:t>evaluación</a:t>
            </a:r>
            <a:r>
              <a:rPr sz="1600" dirty="0"/>
              <a:t> del </a:t>
            </a:r>
            <a:r>
              <a:rPr sz="1600" dirty="0" err="1"/>
              <a:t>desempeño</a:t>
            </a:r>
            <a:r>
              <a:rPr sz="1600" dirty="0"/>
              <a:t> </a:t>
            </a:r>
            <a:r>
              <a:rPr sz="1600" dirty="0" err="1"/>
              <a:t>presidencial</a:t>
            </a:r>
            <a:r>
              <a:rPr sz="1600" dirty="0"/>
              <a:t>. Entre </a:t>
            </a:r>
            <a:r>
              <a:rPr sz="1600" dirty="0" err="1"/>
              <a:t>quienes</a:t>
            </a:r>
            <a:r>
              <a:rPr sz="1600" dirty="0"/>
              <a:t> </a:t>
            </a:r>
            <a:r>
              <a:rPr sz="1600" dirty="0" err="1"/>
              <a:t>aprueban</a:t>
            </a:r>
            <a:r>
              <a:rPr sz="1600" dirty="0"/>
              <a:t> al </a:t>
            </a:r>
            <a:r>
              <a:rPr sz="1600" dirty="0" err="1"/>
              <a:t>presidente</a:t>
            </a:r>
            <a:r>
              <a:rPr sz="1600" dirty="0"/>
              <a:t>, la </a:t>
            </a:r>
            <a:r>
              <a:rPr sz="1600" dirty="0" err="1"/>
              <a:t>probabilidad</a:t>
            </a:r>
            <a:r>
              <a:rPr sz="1600" dirty="0"/>
              <a:t> </a:t>
            </a:r>
            <a:r>
              <a:rPr sz="1600" dirty="0" err="1"/>
              <a:t>estimada</a:t>
            </a:r>
            <a:r>
              <a:rPr sz="1600" dirty="0"/>
              <a:t> de </a:t>
            </a:r>
            <a:r>
              <a:rPr sz="1600" dirty="0" err="1"/>
              <a:t>encontrarse</a:t>
            </a:r>
            <a:r>
              <a:rPr sz="1600" dirty="0"/>
              <a:t> </a:t>
            </a:r>
            <a:r>
              <a:rPr sz="1600" dirty="0" err="1"/>
              <a:t>satisfechos</a:t>
            </a:r>
            <a:r>
              <a:rPr sz="1600" dirty="0"/>
              <a:t> con la </a:t>
            </a:r>
            <a:r>
              <a:rPr sz="1600" dirty="0" err="1"/>
              <a:t>democracia</a:t>
            </a:r>
            <a:r>
              <a:rPr sz="1600" dirty="0"/>
              <a:t> </a:t>
            </a:r>
            <a:r>
              <a:rPr sz="1600" dirty="0" err="1"/>
              <a:t>supera</a:t>
            </a:r>
            <a:r>
              <a:rPr sz="1600" dirty="0"/>
              <a:t> </a:t>
            </a:r>
            <a:r>
              <a:rPr sz="1600" dirty="0" err="1"/>
              <a:t>el</a:t>
            </a:r>
            <a:r>
              <a:rPr sz="1600" dirty="0"/>
              <a:t> 65% tanto </a:t>
            </a:r>
            <a:r>
              <a:rPr sz="1600" dirty="0" err="1"/>
              <a:t>en</a:t>
            </a:r>
            <a:r>
              <a:rPr sz="1600" dirty="0"/>
              <a:t> hombres </a:t>
            </a:r>
            <a:r>
              <a:rPr sz="1600" dirty="0" err="1"/>
              <a:t>como</a:t>
            </a:r>
            <a:r>
              <a:rPr sz="1600" dirty="0"/>
              <a:t> </a:t>
            </a:r>
            <a:r>
              <a:rPr sz="1600" dirty="0" err="1"/>
              <a:t>en</a:t>
            </a:r>
            <a:r>
              <a:rPr sz="1600" dirty="0"/>
              <a:t> </a:t>
            </a:r>
            <a:r>
              <a:rPr sz="1600" dirty="0" err="1"/>
              <a:t>mujeres</a:t>
            </a:r>
            <a:r>
              <a:rPr sz="1600" dirty="0"/>
              <a:t>. En </a:t>
            </a:r>
            <a:r>
              <a:rPr sz="1600" dirty="0" err="1"/>
              <a:t>contraste</a:t>
            </a:r>
            <a:r>
              <a:rPr sz="1600" dirty="0"/>
              <a:t>, entre </a:t>
            </a:r>
            <a:r>
              <a:rPr sz="1600" dirty="0" err="1"/>
              <a:t>quienes</a:t>
            </a:r>
            <a:r>
              <a:rPr sz="1600" dirty="0"/>
              <a:t> </a:t>
            </a:r>
            <a:r>
              <a:rPr sz="1600" dirty="0" err="1"/>
              <a:t>desaprueban</a:t>
            </a:r>
            <a:r>
              <a:rPr sz="1600" dirty="0"/>
              <a:t> la </a:t>
            </a:r>
            <a:r>
              <a:rPr sz="1600" dirty="0" err="1"/>
              <a:t>gestión</a:t>
            </a:r>
            <a:r>
              <a:rPr sz="1600" dirty="0"/>
              <a:t> </a:t>
            </a:r>
            <a:r>
              <a:rPr sz="1600" dirty="0" err="1"/>
              <a:t>presidencial</a:t>
            </a:r>
            <a:r>
              <a:rPr sz="1600" dirty="0"/>
              <a:t>, </a:t>
            </a:r>
            <a:r>
              <a:rPr sz="1600" dirty="0" err="1"/>
              <a:t>dicha</a:t>
            </a:r>
            <a:r>
              <a:rPr sz="1600" dirty="0"/>
              <a:t> </a:t>
            </a:r>
            <a:r>
              <a:rPr sz="1600" dirty="0" err="1"/>
              <a:t>probabilidad</a:t>
            </a:r>
            <a:r>
              <a:rPr sz="1600" dirty="0"/>
              <a:t> </a:t>
            </a:r>
            <a:r>
              <a:rPr sz="1600" dirty="0" err="1"/>
              <a:t>desciende</a:t>
            </a:r>
            <a:r>
              <a:rPr sz="1600" dirty="0"/>
              <a:t> a </a:t>
            </a:r>
            <a:r>
              <a:rPr sz="1600" dirty="0" err="1"/>
              <a:t>valores</a:t>
            </a:r>
            <a:r>
              <a:rPr sz="1600" dirty="0"/>
              <a:t> </a:t>
            </a:r>
            <a:r>
              <a:rPr sz="1600" dirty="0" err="1"/>
              <a:t>cercanos</a:t>
            </a:r>
            <a:r>
              <a:rPr sz="1600" dirty="0"/>
              <a:t> al 30%.</a:t>
            </a:r>
          </a:p>
          <a:p>
            <a:pPr marL="0" lvl="0" indent="0">
              <a:buNone/>
            </a:pPr>
            <a:r>
              <a:rPr sz="1600" dirty="0"/>
              <a:t>Por </a:t>
            </a:r>
            <a:r>
              <a:rPr sz="1600" dirty="0" err="1"/>
              <a:t>otra</a:t>
            </a:r>
            <a:r>
              <a:rPr sz="1600" dirty="0"/>
              <a:t> </a:t>
            </a:r>
            <a:r>
              <a:rPr sz="1600" dirty="0" err="1"/>
              <a:t>parte</a:t>
            </a:r>
            <a:r>
              <a:rPr sz="1600" dirty="0"/>
              <a:t>, las </a:t>
            </a:r>
            <a:r>
              <a:rPr sz="1600" dirty="0" err="1"/>
              <a:t>diferencias</a:t>
            </a:r>
            <a:r>
              <a:rPr sz="1600" dirty="0"/>
              <a:t> entre hombres y </a:t>
            </a:r>
            <a:r>
              <a:rPr sz="1600" dirty="0" err="1"/>
              <a:t>mujeres</a:t>
            </a:r>
            <a:r>
              <a:rPr sz="1600" dirty="0"/>
              <a:t> son </a:t>
            </a:r>
            <a:r>
              <a:rPr sz="1600" dirty="0" err="1"/>
              <a:t>relativamente</a:t>
            </a:r>
            <a:r>
              <a:rPr sz="1600" dirty="0"/>
              <a:t> </a:t>
            </a:r>
            <a:r>
              <a:rPr sz="1600" dirty="0" err="1"/>
              <a:t>reducidas</a:t>
            </a:r>
            <a:r>
              <a:rPr sz="1600" dirty="0"/>
              <a:t> </a:t>
            </a:r>
            <a:r>
              <a:rPr sz="1600" dirty="0" err="1"/>
              <a:t>en</a:t>
            </a:r>
            <a:r>
              <a:rPr sz="1600" dirty="0"/>
              <a:t> ambos </a:t>
            </a:r>
            <a:r>
              <a:rPr sz="1600" dirty="0" err="1"/>
              <a:t>grupos</a:t>
            </a:r>
            <a:r>
              <a:rPr sz="1600" dirty="0"/>
              <a:t>, lo </a:t>
            </a:r>
            <a:r>
              <a:rPr sz="1600" dirty="0" err="1"/>
              <a:t>que</a:t>
            </a:r>
            <a:r>
              <a:rPr sz="1600" dirty="0"/>
              <a:t> </a:t>
            </a:r>
            <a:r>
              <a:rPr sz="1600" dirty="0" err="1"/>
              <a:t>resulta</a:t>
            </a:r>
            <a:r>
              <a:rPr sz="1600" dirty="0"/>
              <a:t> </a:t>
            </a:r>
            <a:r>
              <a:rPr sz="1600" dirty="0" err="1"/>
              <a:t>consistente</a:t>
            </a:r>
            <a:r>
              <a:rPr sz="1600" dirty="0"/>
              <a:t> con </a:t>
            </a:r>
            <a:r>
              <a:rPr sz="1600" dirty="0" err="1"/>
              <a:t>los</a:t>
            </a:r>
            <a:r>
              <a:rPr sz="1600" dirty="0"/>
              <a:t> </a:t>
            </a:r>
            <a:r>
              <a:rPr sz="1600" dirty="0" err="1"/>
              <a:t>resultados</a:t>
            </a:r>
            <a:r>
              <a:rPr sz="1600" dirty="0"/>
              <a:t> </a:t>
            </a:r>
            <a:r>
              <a:rPr sz="1600" dirty="0" err="1"/>
              <a:t>obtenidos</a:t>
            </a:r>
            <a:r>
              <a:rPr sz="1600" dirty="0"/>
              <a:t> </a:t>
            </a:r>
            <a:r>
              <a:rPr sz="1600" dirty="0" err="1"/>
              <a:t>previamente</a:t>
            </a:r>
            <a:r>
              <a:rPr sz="1600" dirty="0"/>
              <a:t> </a:t>
            </a:r>
            <a:r>
              <a:rPr sz="1600" dirty="0" err="1"/>
              <a:t>en</a:t>
            </a:r>
            <a:r>
              <a:rPr sz="1600" dirty="0"/>
              <a:t> </a:t>
            </a:r>
            <a:r>
              <a:rPr sz="1600" dirty="0" err="1"/>
              <a:t>los</a:t>
            </a:r>
            <a:r>
              <a:rPr sz="1600" dirty="0"/>
              <a:t> </a:t>
            </a:r>
            <a:r>
              <a:rPr sz="1600" dirty="0" err="1"/>
              <a:t>análisis</a:t>
            </a:r>
            <a:r>
              <a:rPr sz="1600" dirty="0"/>
              <a:t> </a:t>
            </a:r>
            <a:r>
              <a:rPr sz="1600" dirty="0" err="1"/>
              <a:t>bivariados</a:t>
            </a:r>
            <a:r>
              <a:rPr sz="1600" dirty="0"/>
              <a:t> y </a:t>
            </a:r>
            <a:r>
              <a:rPr sz="1600" dirty="0" err="1"/>
              <a:t>en</a:t>
            </a:r>
            <a:r>
              <a:rPr sz="1600" dirty="0"/>
              <a:t> la </a:t>
            </a:r>
            <a:r>
              <a:rPr sz="1600" dirty="0" err="1"/>
              <a:t>regresión</a:t>
            </a:r>
            <a:r>
              <a:rPr sz="1600" dirty="0"/>
              <a:t> </a:t>
            </a:r>
            <a:r>
              <a:rPr sz="1600" dirty="0" err="1"/>
              <a:t>logística</a:t>
            </a:r>
            <a:r>
              <a:rPr sz="1600" dirty="0"/>
              <a:t>. En conjunto, la </a:t>
            </a:r>
            <a:r>
              <a:rPr sz="1600" dirty="0" err="1"/>
              <a:t>evidencia</a:t>
            </a:r>
            <a:r>
              <a:rPr sz="1600" dirty="0"/>
              <a:t> </a:t>
            </a:r>
            <a:r>
              <a:rPr sz="1600" dirty="0" err="1"/>
              <a:t>sugiere</a:t>
            </a:r>
            <a:r>
              <a:rPr sz="1600" dirty="0"/>
              <a:t> </a:t>
            </a:r>
            <a:r>
              <a:rPr sz="1600" dirty="0" err="1"/>
              <a:t>que</a:t>
            </a:r>
            <a:r>
              <a:rPr sz="1600" dirty="0"/>
              <a:t> la </a:t>
            </a:r>
            <a:r>
              <a:rPr sz="1600" dirty="0" err="1"/>
              <a:t>aprobación</a:t>
            </a:r>
            <a:r>
              <a:rPr sz="1600" dirty="0"/>
              <a:t> </a:t>
            </a:r>
            <a:r>
              <a:rPr sz="1600" dirty="0" err="1"/>
              <a:t>presidencial</a:t>
            </a:r>
            <a:r>
              <a:rPr sz="1600" dirty="0"/>
              <a:t> </a:t>
            </a:r>
            <a:r>
              <a:rPr sz="1600" dirty="0" err="1"/>
              <a:t>constituye</a:t>
            </a:r>
            <a:r>
              <a:rPr sz="1600" dirty="0"/>
              <a:t> un factor </a:t>
            </a:r>
            <a:r>
              <a:rPr sz="1600" dirty="0" err="1"/>
              <a:t>considerablemente</a:t>
            </a:r>
            <a:r>
              <a:rPr sz="1600" dirty="0"/>
              <a:t> </a:t>
            </a:r>
            <a:r>
              <a:rPr sz="1600" dirty="0" err="1"/>
              <a:t>más</a:t>
            </a:r>
            <a:r>
              <a:rPr sz="1600" dirty="0"/>
              <a:t> </a:t>
            </a:r>
            <a:r>
              <a:rPr sz="1600" dirty="0" err="1"/>
              <a:t>relevante</a:t>
            </a:r>
            <a:r>
              <a:rPr sz="1600" dirty="0"/>
              <a:t> para </a:t>
            </a:r>
            <a:r>
              <a:rPr sz="1600" dirty="0" err="1"/>
              <a:t>explicar</a:t>
            </a:r>
            <a:r>
              <a:rPr sz="1600" dirty="0"/>
              <a:t> la </a:t>
            </a:r>
            <a:r>
              <a:rPr sz="1600" dirty="0" err="1"/>
              <a:t>satisfacción</a:t>
            </a:r>
            <a:r>
              <a:rPr sz="1600" dirty="0"/>
              <a:t> con la </a:t>
            </a:r>
            <a:r>
              <a:rPr sz="1600" dirty="0" err="1"/>
              <a:t>democracia</a:t>
            </a:r>
            <a:r>
              <a:rPr sz="1600" dirty="0"/>
              <a:t> </a:t>
            </a:r>
            <a:r>
              <a:rPr sz="1600" dirty="0" err="1"/>
              <a:t>que</a:t>
            </a:r>
            <a:r>
              <a:rPr sz="1600" dirty="0"/>
              <a:t> las variables </a:t>
            </a:r>
            <a:r>
              <a:rPr sz="1600" dirty="0" err="1"/>
              <a:t>sociodemográficas</a:t>
            </a:r>
            <a:r>
              <a:rPr sz="1600" dirty="0"/>
              <a:t> </a:t>
            </a:r>
            <a:r>
              <a:rPr sz="1600" dirty="0" err="1"/>
              <a:t>consideradas</a:t>
            </a:r>
            <a:r>
              <a:rPr sz="1600" dirty="0"/>
              <a:t> </a:t>
            </a:r>
            <a:r>
              <a:rPr sz="1600" dirty="0" err="1"/>
              <a:t>en</a:t>
            </a:r>
            <a:r>
              <a:rPr sz="1600" dirty="0"/>
              <a:t> </a:t>
            </a:r>
            <a:r>
              <a:rPr sz="1600" dirty="0" err="1"/>
              <a:t>este</a:t>
            </a:r>
            <a:r>
              <a:rPr sz="1600" dirty="0"/>
              <a:t> </a:t>
            </a:r>
            <a:r>
              <a:rPr sz="1600" dirty="0" err="1"/>
              <a:t>estudio</a:t>
            </a:r>
            <a:r>
              <a:rPr sz="1600"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1349</Words>
  <Application>Microsoft Office PowerPoint</Application>
  <PresentationFormat>Presentación en pantalla (16:9)</PresentationFormat>
  <Paragraphs>112</Paragraphs>
  <Slides>13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Calibri</vt:lpstr>
      <vt:lpstr>Courier</vt:lpstr>
      <vt:lpstr>Office Theme</vt:lpstr>
      <vt:lpstr>Trabajo 2</vt:lpstr>
      <vt:lpstr>Satisfaccion democratica en Argentina 2023</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Trabajo 2</dc:title>
  <dc:creator/>
  <cp:keywords/>
  <cp:lastModifiedBy>Antonia Cea</cp:lastModifiedBy>
  <cp:revision>1</cp:revision>
  <dcterms:created xsi:type="dcterms:W3CDTF">2026-06-15T16:51:39Z</dcterms:created>
  <dcterms:modified xsi:type="dcterms:W3CDTF">2026-06-15T17:06:30Z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bibliography">
    <vt:lpwstr>latibarometro.bib</vt:lpwstr>
  </property>
  <property fmtid="{D5CDD505-2E9C-101B-9397-08002B2CF9AE}" pid="4" name="editor">
    <vt:lpwstr>visual</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toc-title">
    <vt:lpwstr>Table of contents</vt:lpwstr>
  </property>
</Properties>
</file>