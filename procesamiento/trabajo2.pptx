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vistas.javeriana.edu.co/files-articulos/PaPo/29(2024)/6812641001/index.html" TargetMode="External" /><Relationship Id="rId3" Type="http://schemas.openxmlformats.org/officeDocument/2006/relationships/hyperlink" Target="https://doi.org/10.1177/29769442251325357"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Trabajo 2</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Satisfaccion democratica en Argentina 2023</a:t>
            </a:r>
          </a:p>
        </p:txBody>
      </p:sp>
      <p:pic>
        <p:nvPicPr>
          <p:cNvPr descr="images/64f9c8b5b08a8_transicion-democraticaalta.png" id="0" name="Picture 1"/>
          <p:cNvPicPr>
            <a:picLocks noGrp="1" noChangeAspect="1"/>
          </p:cNvPicPr>
          <p:nvPr/>
        </p:nvPicPr>
        <p:blipFill>
          <a:blip r:embed="rId2"/>
          <a:stretch>
            <a:fillRect/>
          </a:stretch>
        </p:blipFill>
        <p:spPr bwMode="auto">
          <a:xfrm>
            <a:off x="1955800" y="1193800"/>
            <a:ext cx="52197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problema de investigacion</a:t>
            </a:r>
          </a:p>
          <a:p>
            <a:pPr lvl="0" indent="0" marL="0">
              <a:buNone/>
            </a:pPr>
            <a:r>
              <a:rPr/>
              <a:t>Desde la elección de Jair Bolsonaro en Brasil en 2018, América Latina y particularmente Argentina han experimentado transformaciones políticas y sociales marcadas por una creciente polarización y el surgimiento de discursos críticos hacia las instituciones tradicionales. Este proceso alcanzó un punto significativo en las elecciones presidenciales argentinas de 2023, donde Javier Milei resultó electo presidente. Tal como señala (Tedesco 2025) “Milei es, sin duda, una figura sumamente polarizante. Desde su ascenso en la política argentina, Milei se ha caracterizado por su fuerte retórica populista, sus propuestas económicas radicales y su estilo confrontativo, todo lo cual ha contribuido a una creciente polarización política”.</a:t>
            </a:r>
          </a:p>
          <a:p>
            <a:pPr lvl="0" indent="0" marL="0">
              <a:buNone/>
            </a:pPr>
            <a:r>
              <a:rPr/>
              <a:t>Diversos estudios han evidenciado un deterioro en la legitimidad de la democracia y una creciente insatisfacción ciudadana con su funcionamiento. En este contexto, resulta relevante analizar cómo se distribuye la satisfacción con la democracia en Argentina durante 2023 y de qué manera esta varía según características sociodemográficas de la población.</a:t>
            </a:r>
          </a:p>
          <a:p>
            <a:pPr lvl="0" indent="0" marL="0">
              <a:buNone/>
            </a:pPr>
            <a:r>
              <a:rPr/>
              <a:t>La satisfacción con la democracia constituye un indicador relevante para comprender el contexto sociopolítico en el que emergen discursos antisistema y liderazgos críticos de las instituciones democráticas tradicionales, como el de Javier Milei.</a:t>
            </a:r>
          </a:p>
          <a:p>
            <a:pPr lvl="0" indent="0" marL="0">
              <a:spcBef>
                <a:spcPts val="3000"/>
              </a:spcBef>
              <a:buNone/>
            </a:pPr>
            <a:r>
              <a:rPr b="1"/>
              <a:t>Justificación</a:t>
            </a:r>
          </a:p>
          <a:p>
            <a:pPr lvl="0" indent="0" marL="0">
              <a:buNone/>
            </a:pPr>
            <a:r>
              <a:rPr/>
              <a:t>La relevancia de esta investigación radica en comprender cómo distintos sectores de la población argentina evalúan el funcionamiento de la democracia en un contexto marcado por crisis económicas recurrentes, inflación sostenida, incertidumbre social y creciente desafección política.</a:t>
            </a:r>
          </a:p>
          <a:p>
            <a:pPr lvl="0" indent="0" marL="0">
              <a:buNone/>
            </a:pPr>
            <a:r>
              <a:rPr/>
              <a:t>En este marco, estudiar la satisfacción con la democracia permite aproximarse a las percepciones ciudadanas sobre la legitimidad del sistema democrático y observar cómo estas se distribuyen según variables sociodemográficas como edad, sexo y nivel educativo.</a:t>
            </a:r>
          </a:p>
          <a:p>
            <a:pPr lvl="0" indent="0" marL="0">
              <a:buNone/>
            </a:pPr>
            <a:r>
              <a:rPr/>
              <a:t>Asimismo, el estudio resulta pertinente considerando el contexto político argentino de 2023, marcado por el ascenso de Javier Milei y la consolidación de discursos críticos hacia las instituciones políticas tradicionales. En este sentido, la satisfacción con la democracia se aborda como un indicador útil para comprender el escenario social y político en el que emergen este tipo de liderazgos.</a:t>
            </a:r>
          </a:p>
          <a:p>
            <a:pPr lvl="0" indent="0" marL="0">
              <a:buNone/>
            </a:pPr>
            <a:r>
              <a:rPr/>
              <a:t>Para ello, se analizarán datos del Latinobarómetro 2023, debido a que este periodo concentra transformaciones políticas y sociales relevantes para observar las percepciones ciudadanas sobre la democracia en Argentina.(“El ascenso de Milei en Argentina y las nuevas extremas derechas de América Latina*,” n.d.)</a:t>
            </a:r>
          </a:p>
          <a:p>
            <a:pPr lvl="0" indent="0" marL="0">
              <a:spcBef>
                <a:spcPts val="3000"/>
              </a:spcBef>
              <a:buNone/>
            </a:pPr>
            <a:r>
              <a:rPr b="1"/>
              <a:t>Pregunta de investigacion</a:t>
            </a:r>
          </a:p>
          <a:p>
            <a:pPr lvl="0" indent="0" marL="0">
              <a:buNone/>
            </a:pPr>
            <a:r>
              <a:rPr/>
              <a:t>¿Cómo se distribuye la satisfacción con la democracia según variables sociodemográficas (edad, sexo y nivel educativo) en Argentina (2023)?</a:t>
            </a:r>
          </a:p>
          <a:p>
            <a:pPr lvl="0" indent="0" marL="0">
              <a:spcBef>
                <a:spcPts val="3000"/>
              </a:spcBef>
              <a:buNone/>
            </a:pPr>
            <a:r>
              <a:rPr b="1"/>
              <a:t>Hipotesis</a:t>
            </a:r>
          </a:p>
          <a:p>
            <a:pPr lvl="0" indent="0" marL="0">
              <a:buNone/>
            </a:pPr>
            <a:r>
              <a:rPr/>
              <a:t>La satisfacción con la democracia se distribuye de manera diferenciada según variables sociodemográficas (edad, sexo y nivel educativo) en Argentina (2023).</a:t>
            </a:r>
          </a:p>
          <a:p>
            <a:pPr lvl="0" indent="0" marL="0">
              <a:spcBef>
                <a:spcPts val="3000"/>
              </a:spcBef>
              <a:buNone/>
            </a:pPr>
            <a:r>
              <a:rPr b="1"/>
              <a:t>Variables</a:t>
            </a:r>
          </a:p>
          <a:p>
            <a:pPr lvl="0" indent="0" marL="0">
              <a:buNone/>
            </a:pPr>
            <a:r>
              <a:rPr/>
              <a:t>A partir de la retroalimentación recibida en la última entrega, se decidió ajustar la operacionalización de las variables con el fin de fortalecer la coherencia entre la pregunta de investigación, las variables analizadas y las técnicas estadísticas utilizadas. En consecuencia, se optó por mantener únicamente las variables que responden de manera directa al objetivo del estudio: edad, sexo y nivel educativo como variables independientes, y satisfacción con la democracia como variable dependiente.</a:t>
            </a:r>
          </a:p>
          <a:p>
            <a:pPr lvl="0" indent="0" marL="0">
              <a:spcBef>
                <a:spcPts val="3000"/>
              </a:spcBef>
              <a:buNone/>
            </a:pPr>
            <a:r>
              <a:rPr b="1"/>
              <a:t>Variables independientes</a:t>
            </a:r>
          </a:p>
          <a:p>
            <a:pPr lvl="0" indent="-342900" marL="342900">
              <a:buAutoNum type="arabicPeriod"/>
            </a:pPr>
            <a:r>
              <a:rPr b="1"/>
              <a:t>Edad (</a:t>
            </a:r>
            <a:r>
              <a:rPr b="1">
                <a:latin typeface="Courier"/>
              </a:rPr>
              <a:t>EDAD</a:t>
            </a:r>
            <a:r>
              <a:rPr b="1"/>
              <a:t>)</a:t>
            </a:r>
            <a:r>
              <a:rPr/>
              <a:t>: Es una variable de intervalo o razón, pues es numérica y permite establecer orden y distancia entre los valores observados. Corresponde a la edad declarada por el encuestado al momento de la entrevista y se encuentra registrada directamente en la base de datos.</a:t>
            </a:r>
          </a:p>
          <a:p>
            <a:pPr lvl="0" indent="-342900" marL="342900">
              <a:buAutoNum type="arabicPeriod"/>
            </a:pPr>
            <a:r>
              <a:rPr b="1"/>
              <a:t>Sexo (</a:t>
            </a:r>
            <a:r>
              <a:rPr b="1">
                <a:latin typeface="Courier"/>
              </a:rPr>
              <a:t>SEXO</a:t>
            </a:r>
            <a:r>
              <a:rPr b="1"/>
              <a:t>)</a:t>
            </a:r>
            <a:r>
              <a:rPr/>
              <a:t>: Es una variable nominal dicotómica que clasifica a los encuestados según sexo. En la base de datos se encuentra codificada como </a:t>
            </a:r>
            <a:r>
              <a:rPr b="1"/>
              <a:t>1 = Hombre</a:t>
            </a:r>
            <a:r>
              <a:rPr/>
              <a:t> y </a:t>
            </a:r>
            <a:r>
              <a:rPr b="1"/>
              <a:t>2 = Mujer</a:t>
            </a:r>
            <a:r>
              <a:rPr/>
              <a:t>.</a:t>
            </a:r>
          </a:p>
          <a:p>
            <a:pPr lvl="0" indent="-342900" marL="342900">
              <a:buAutoNum type="arabicPeriod"/>
            </a:pPr>
            <a:r>
              <a:rPr b="1"/>
              <a:t>Nivel educativo (</a:t>
            </a:r>
            <a:r>
              <a:rPr b="1">
                <a:latin typeface="Courier"/>
              </a:rPr>
              <a:t>S11</a:t>
            </a:r>
            <a:r>
              <a:rPr b="1"/>
              <a:t>)</a:t>
            </a:r>
            <a:r>
              <a:rPr/>
              <a:t>: Corresponde al máximo nivel educativo alcanzado por el encuestado. Se trata de una variable ordinal, ya que sus categorías representan distintos niveles de escolaridad que pueden ordenarse jerárquicamente según el grado de educación alcanzado. La codificación va desde </a:t>
            </a:r>
            <a:r>
              <a:rPr b="1"/>
              <a:t>1 = Sin estudios</a:t>
            </a:r>
            <a:r>
              <a:rPr/>
              <a:t> hasta </a:t>
            </a:r>
            <a:r>
              <a:rPr b="1"/>
              <a:t>17 = Estudios técnicos superiores completos</a:t>
            </a:r>
            <a:r>
              <a:rPr/>
              <a:t>, incluyendo distintos niveles de educación primaria, secundaria, universitaria y técnica.</a:t>
            </a:r>
          </a:p>
          <a:p>
            <a:pPr lvl="0" indent="0" marL="0">
              <a:spcBef>
                <a:spcPts val="3000"/>
              </a:spcBef>
              <a:buNone/>
            </a:pPr>
            <a:r>
              <a:rPr b="1"/>
              <a:t>Variable dependiente</a:t>
            </a:r>
          </a:p>
          <a:p>
            <a:pPr lvl="0" indent="0" marL="0">
              <a:buNone/>
            </a:pPr>
            <a:r>
              <a:rPr b="1"/>
              <a:t>Satisfacción con la democracia (</a:t>
            </a:r>
            <a:r>
              <a:rPr b="1">
                <a:latin typeface="Courier"/>
              </a:rPr>
              <a:t>P11STGBS.A</a:t>
            </a:r>
            <a:r>
              <a:rPr b="1"/>
              <a:t>)</a:t>
            </a:r>
            <a:r>
              <a:rPr/>
              <a:t>: Es una variable ordinal que mide el grado de satisfacción de los encuestados con el funcionamiento de la democracia en su país. Sus categorías se encuentran ordenadas desde niveles altos de satisfacción hasta niveles altos de insatisfacción. La variable se codifica como </a:t>
            </a:r>
            <a:r>
              <a:rPr b="1"/>
              <a:t>1 = Muy satisfecho</a:t>
            </a:r>
            <a:r>
              <a:rPr/>
              <a:t>, </a:t>
            </a:r>
            <a:r>
              <a:rPr b="1"/>
              <a:t>2 = Más bien satisfecho</a:t>
            </a:r>
            <a:r>
              <a:rPr/>
              <a:t>, </a:t>
            </a:r>
            <a:r>
              <a:rPr b="1"/>
              <a:t>3 = No muy satisfecho</a:t>
            </a:r>
            <a:r>
              <a:rPr/>
              <a:t> y </a:t>
            </a:r>
            <a:r>
              <a:rPr b="1"/>
              <a:t>4 = Nada satisfecho</a:t>
            </a:r>
            <a:r>
              <a:rPr/>
              <a:t>. En consecuencia, valores más altos indican una menor satisfacción con el funcionamiento de la democracia.</a:t>
            </a:r>
          </a:p>
          <a:p>
            <a:pPr lvl="0" indent="0" marL="0">
              <a:spcBef>
                <a:spcPts val="3000"/>
              </a:spcBef>
              <a:buNone/>
            </a:pPr>
            <a:r>
              <a:rPr b="1"/>
              <a:t>Estadística descriptiva</a:t>
            </a:r>
          </a:p>
          <a:p>
            <a:pPr lvl="0" indent="0" marL="0">
              <a:spcBef>
                <a:spcPts val="3000"/>
              </a:spcBef>
              <a:buNone/>
            </a:pPr>
            <a:r>
              <a:rPr b="1"/>
              <a:t>Variables numéricas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lgn="l">
                        <a:buNone/>
                      </a:pPr>
                      <a:r>
                        <a:rPr/>
                        <a:t>var</a:t>
                      </a:r>
                    </a:p>
                  </a:txBody>
                  <a:tcPr/>
                </a:tc>
                <a:tc>
                  <a:txBody>
                    <a:bodyPr/>
                    <a:lstStyle/>
                    <a:p>
                      <a:pPr lvl="0" indent="0" marL="0" algn="r">
                        <a:buNone/>
                      </a:pPr>
                      <a:r>
                        <a:rPr/>
                        <a:t>n</a:t>
                      </a:r>
                    </a:p>
                  </a:txBody>
                  <a:tcPr/>
                </a:tc>
                <a:tc>
                  <a:txBody>
                    <a:bodyPr/>
                    <a:lstStyle/>
                    <a:p>
                      <a:pPr lvl="0" indent="0" marL="0" algn="r">
                        <a:buNone/>
                      </a:pPr>
                      <a:r>
                        <a:rPr/>
                        <a:t>NA.prc</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l">
                        <a:buNone/>
                      </a:pPr>
                      <a:r>
                        <a:rPr/>
                        <a:t>range</a:t>
                      </a:r>
                    </a:p>
                  </a:txBody>
                  <a:tcPr/>
                </a:tc>
              </a:tr>
              <a:tr h="0">
                <a:tc>
                  <a:txBody>
                    <a:bodyPr/>
                    <a:lstStyle/>
                    <a:p>
                      <a:pPr lvl="0" indent="0" marL="0" algn="l">
                        <a:buNone/>
                      </a:pPr>
                      <a:r>
                        <a:rPr/>
                        <a:t>edad</a:t>
                      </a:r>
                    </a:p>
                  </a:txBody>
                </a:tc>
                <a:tc>
                  <a:txBody>
                    <a:bodyPr/>
                    <a:lstStyle/>
                    <a:p>
                      <a:pPr lvl="0" indent="0" marL="0" algn="r">
                        <a:buNone/>
                      </a:pPr>
                      <a:r>
                        <a:rPr/>
                        <a:t>1174</a:t>
                      </a:r>
                    </a:p>
                  </a:txBody>
                </a:tc>
                <a:tc>
                  <a:txBody>
                    <a:bodyPr/>
                    <a:lstStyle/>
                    <a:p>
                      <a:pPr lvl="0" indent="0" marL="0" algn="r">
                        <a:buNone/>
                      </a:pPr>
                      <a:r>
                        <a:rPr/>
                        <a:t>0</a:t>
                      </a:r>
                    </a:p>
                  </a:txBody>
                </a:tc>
                <a:tc>
                  <a:txBody>
                    <a:bodyPr/>
                    <a:lstStyle/>
                    <a:p>
                      <a:pPr lvl="0" indent="0" marL="0" algn="r">
                        <a:buNone/>
                      </a:pPr>
                      <a:r>
                        <a:rPr/>
                        <a:t>42.94378</a:t>
                      </a:r>
                    </a:p>
                  </a:txBody>
                </a:tc>
                <a:tc>
                  <a:txBody>
                    <a:bodyPr/>
                    <a:lstStyle/>
                    <a:p>
                      <a:pPr lvl="0" indent="0" marL="0" algn="r">
                        <a:buNone/>
                      </a:pPr>
                      <a:r>
                        <a:rPr/>
                        <a:t>16.929277</a:t>
                      </a:r>
                    </a:p>
                  </a:txBody>
                </a:tc>
                <a:tc>
                  <a:txBody>
                    <a:bodyPr/>
                    <a:lstStyle/>
                    <a:p>
                      <a:pPr lvl="0" indent="0" marL="0" algn="l">
                        <a:buNone/>
                      </a:pPr>
                      <a:r>
                        <a:rPr/>
                        <a:t>72 (18-90)</a:t>
                      </a:r>
                    </a:p>
                  </a:txBody>
                </a:tc>
              </a:tr>
              <a:tr h="0">
                <a:tc>
                  <a:txBody>
                    <a:bodyPr/>
                    <a:lstStyle/>
                    <a:p>
                      <a:pPr lvl="0" indent="0" marL="0" algn="l">
                        <a:buNone/>
                      </a:pPr>
                      <a:r>
                        <a:rPr/>
                        <a:t>nivel_educativo</a:t>
                      </a:r>
                    </a:p>
                  </a:txBody>
                </a:tc>
                <a:tc>
                  <a:txBody>
                    <a:bodyPr/>
                    <a:lstStyle/>
                    <a:p>
                      <a:pPr lvl="0" indent="0" marL="0" algn="r">
                        <a:buNone/>
                      </a:pPr>
                      <a:r>
                        <a:rPr/>
                        <a:t>1174</a:t>
                      </a:r>
                    </a:p>
                  </a:txBody>
                </a:tc>
                <a:tc>
                  <a:txBody>
                    <a:bodyPr/>
                    <a:lstStyle/>
                    <a:p>
                      <a:pPr lvl="0" indent="0" marL="0" algn="r">
                        <a:buNone/>
                      </a:pPr>
                      <a:r>
                        <a:rPr/>
                        <a:t>0</a:t>
                      </a:r>
                    </a:p>
                  </a:txBody>
                </a:tc>
                <a:tc>
                  <a:txBody>
                    <a:bodyPr/>
                    <a:lstStyle/>
                    <a:p>
                      <a:pPr lvl="0" indent="0" marL="0" algn="r">
                        <a:buNone/>
                      </a:pPr>
                      <a:r>
                        <a:rPr/>
                        <a:t>12.78620</a:t>
                      </a:r>
                    </a:p>
                  </a:txBody>
                </a:tc>
                <a:tc>
                  <a:txBody>
                    <a:bodyPr/>
                    <a:lstStyle/>
                    <a:p>
                      <a:pPr lvl="0" indent="0" marL="0" algn="r">
                        <a:buNone/>
                      </a:pPr>
                      <a:r>
                        <a:rPr/>
                        <a:t>3.228884</a:t>
                      </a:r>
                    </a:p>
                  </a:txBody>
                </a:tc>
                <a:tc>
                  <a:txBody>
                    <a:bodyPr/>
                    <a:lstStyle/>
                    <a:p>
                      <a:pPr lvl="0" indent="0" marL="0" algn="l">
                        <a:buNone/>
                      </a:pPr>
                      <a:r>
                        <a:rPr/>
                        <a:t>16 (1-17)</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 muestra analizada está compuesta por 1.174 casos válidos para las variables edad y nivel educativo. La edad promedio de los encuestados es de 42,9 años, con una desviación estándar de 16,9 años, lo que indica una distribución etaria relativamente amplia. Los participantes tienen edades comprendidas entre los 18 y los 90 años.</a:t>
            </a:r>
          </a:p>
          <a:p>
            <a:pPr lvl="0" indent="0" marL="0">
              <a:buNone/>
            </a:pPr>
            <a:r>
              <a:rPr/>
              <a:t>Por su parte, el nivel educativo presenta un promedio de 12,8 puntos en la escala utilizada por Latinobarómetro, con una desviación estándar de 3,2 puntos. El rango observado abarca desde la categoría 1 (sin estudios) hasta la categoría 17 (estudios técnicos superiores completos), lo que evidencia una importante heterogeneidad en los niveles educativos presentes en la muestra.</a:t>
            </a:r>
          </a:p>
          <a:p>
            <a:pPr lvl="0" indent="0" marL="0">
              <a:spcBef>
                <a:spcPts val="3000"/>
              </a:spcBef>
              <a:buNone/>
            </a:pPr>
            <a:r>
              <a:rPr b="1"/>
              <a:t>Variables categóricas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sexo</a:t>
                      </a:r>
                    </a:p>
                  </a:txBody>
                  <a:tcPr/>
                </a:tc>
                <a:tc>
                  <a:txBody>
                    <a:bodyPr/>
                    <a:lstStyle/>
                    <a:p>
                      <a:pPr lvl="0" indent="0" marL="0" algn="r">
                        <a:buNone/>
                      </a:pPr>
                      <a:r>
                        <a:rPr/>
                        <a:t>n</a:t>
                      </a:r>
                    </a:p>
                  </a:txBody>
                  <a:tcPr/>
                </a:tc>
                <a:tc>
                  <a:txBody>
                    <a:bodyPr/>
                    <a:lstStyle/>
                    <a:p>
                      <a:pPr lvl="0" indent="0" marL="0" algn="r">
                        <a:buNone/>
                      </a:pPr>
                      <a:r>
                        <a:rPr/>
                        <a:t>porcentaje</a:t>
                      </a:r>
                    </a:p>
                  </a:txBody>
                  <a:tcPr/>
                </a:tc>
              </a:tr>
              <a:tr h="0">
                <a:tc>
                  <a:txBody>
                    <a:bodyPr/>
                    <a:lstStyle/>
                    <a:p>
                      <a:pPr lvl="0" indent="0" marL="0" algn="l">
                        <a:buNone/>
                      </a:pPr>
                      <a:r>
                        <a:rPr/>
                        <a:t>Hombre</a:t>
                      </a:r>
                    </a:p>
                  </a:txBody>
                </a:tc>
                <a:tc>
                  <a:txBody>
                    <a:bodyPr/>
                    <a:lstStyle/>
                    <a:p>
                      <a:pPr lvl="0" indent="0" marL="0" algn="r">
                        <a:buNone/>
                      </a:pPr>
                      <a:r>
                        <a:rPr/>
                        <a:t>566</a:t>
                      </a:r>
                    </a:p>
                  </a:txBody>
                </a:tc>
                <a:tc>
                  <a:txBody>
                    <a:bodyPr/>
                    <a:lstStyle/>
                    <a:p>
                      <a:pPr lvl="0" indent="0" marL="0" algn="r">
                        <a:buNone/>
                      </a:pPr>
                      <a:r>
                        <a:rPr/>
                        <a:t>48.2</a:t>
                      </a:r>
                    </a:p>
                  </a:txBody>
                </a:tc>
              </a:tr>
              <a:tr h="0">
                <a:tc>
                  <a:txBody>
                    <a:bodyPr/>
                    <a:lstStyle/>
                    <a:p>
                      <a:pPr lvl="0" indent="0" marL="0" algn="l">
                        <a:buNone/>
                      </a:pPr>
                      <a:r>
                        <a:rPr/>
                        <a:t>Mujer</a:t>
                      </a:r>
                    </a:p>
                  </a:txBody>
                </a:tc>
                <a:tc>
                  <a:txBody>
                    <a:bodyPr/>
                    <a:lstStyle/>
                    <a:p>
                      <a:pPr lvl="0" indent="0" marL="0" algn="r">
                        <a:buNone/>
                      </a:pPr>
                      <a:r>
                        <a:rPr/>
                        <a:t>608</a:t>
                      </a:r>
                    </a:p>
                  </a:txBody>
                </a:tc>
                <a:tc>
                  <a:txBody>
                    <a:bodyPr/>
                    <a:lstStyle/>
                    <a:p>
                      <a:pPr lvl="0" indent="0" marL="0" algn="r">
                        <a:buNone/>
                      </a:pPr>
                      <a:r>
                        <a:rPr/>
                        <a:t>51.8</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 muestra presenta una distribución equilibrada por sexo. Del total de casos analizados, el 51,8% corresponde a mujeres y el 48,2% a hombres. Esta distribución reduce el riesgo de sesgos derivados de una sobrerrepresentación de alguno de los grupos y permite realizar comparaciones entre ambos sexos en condiciones relativamente equivalentes.</a:t>
            </a:r>
          </a:p>
          <a:p>
            <a:pPr lvl="0" indent="0" marL="0">
              <a:spcBef>
                <a:spcPts val="3000"/>
              </a:spcBef>
              <a:buNone/>
            </a:pPr>
            <a:r>
              <a:rPr b="1"/>
              <a:t>Frecuencia satisfacción con la democracia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satisfaccion_democracia</a:t>
                      </a:r>
                    </a:p>
                  </a:txBody>
                  <a:tcPr/>
                </a:tc>
                <a:tc>
                  <a:txBody>
                    <a:bodyPr/>
                    <a:lstStyle/>
                    <a:p>
                      <a:pPr lvl="0" indent="0" marL="0" algn="r">
                        <a:buNone/>
                      </a:pPr>
                      <a:r>
                        <a:rPr/>
                        <a:t>n</a:t>
                      </a:r>
                    </a:p>
                  </a:txBody>
                  <a:tcPr/>
                </a:tc>
                <a:tc>
                  <a:txBody>
                    <a:bodyPr/>
                    <a:lstStyle/>
                    <a:p>
                      <a:pPr lvl="0" indent="0" marL="0" algn="r">
                        <a:buNone/>
                      </a:pPr>
                      <a:r>
                        <a:rPr/>
                        <a:t>porcentaje</a:t>
                      </a:r>
                    </a:p>
                  </a:txBody>
                  <a:tcPr/>
                </a:tc>
              </a:tr>
              <a:tr h="0">
                <a:tc>
                  <a:txBody>
                    <a:bodyPr/>
                    <a:lstStyle/>
                    <a:p>
                      <a:pPr lvl="0" indent="0" marL="0" algn="l">
                        <a:buNone/>
                      </a:pPr>
                      <a:r>
                        <a:rPr/>
                        <a:t>Muy satisfecho</a:t>
                      </a:r>
                    </a:p>
                  </a:txBody>
                </a:tc>
                <a:tc>
                  <a:txBody>
                    <a:bodyPr/>
                    <a:lstStyle/>
                    <a:p>
                      <a:pPr lvl="0" indent="0" marL="0" algn="r">
                        <a:buNone/>
                      </a:pPr>
                      <a:r>
                        <a:rPr/>
                        <a:t>94</a:t>
                      </a:r>
                    </a:p>
                  </a:txBody>
                </a:tc>
                <a:tc>
                  <a:txBody>
                    <a:bodyPr/>
                    <a:lstStyle/>
                    <a:p>
                      <a:pPr lvl="0" indent="0" marL="0" algn="r">
                        <a:buNone/>
                      </a:pPr>
                      <a:r>
                        <a:rPr/>
                        <a:t>8.0</a:t>
                      </a:r>
                    </a:p>
                  </a:txBody>
                </a:tc>
              </a:tr>
              <a:tr h="0">
                <a:tc>
                  <a:txBody>
                    <a:bodyPr/>
                    <a:lstStyle/>
                    <a:p>
                      <a:pPr lvl="0" indent="0" marL="0" algn="l">
                        <a:buNone/>
                      </a:pPr>
                      <a:r>
                        <a:rPr/>
                        <a:t>Más bien satisfecho</a:t>
                      </a:r>
                    </a:p>
                  </a:txBody>
                </a:tc>
                <a:tc>
                  <a:txBody>
                    <a:bodyPr/>
                    <a:lstStyle/>
                    <a:p>
                      <a:pPr lvl="0" indent="0" marL="0" algn="r">
                        <a:buNone/>
                      </a:pPr>
                      <a:r>
                        <a:rPr/>
                        <a:t>353</a:t>
                      </a:r>
                    </a:p>
                  </a:txBody>
                </a:tc>
                <a:tc>
                  <a:txBody>
                    <a:bodyPr/>
                    <a:lstStyle/>
                    <a:p>
                      <a:pPr lvl="0" indent="0" marL="0" algn="r">
                        <a:buNone/>
                      </a:pPr>
                      <a:r>
                        <a:rPr/>
                        <a:t>30.1</a:t>
                      </a:r>
                    </a:p>
                  </a:txBody>
                </a:tc>
              </a:tr>
              <a:tr h="0">
                <a:tc>
                  <a:txBody>
                    <a:bodyPr/>
                    <a:lstStyle/>
                    <a:p>
                      <a:pPr lvl="0" indent="0" marL="0" algn="l">
                        <a:buNone/>
                      </a:pPr>
                      <a:r>
                        <a:rPr/>
                        <a:t>Nada satisfecho</a:t>
                      </a:r>
                    </a:p>
                  </a:txBody>
                </a:tc>
                <a:tc>
                  <a:txBody>
                    <a:bodyPr/>
                    <a:lstStyle/>
                    <a:p>
                      <a:pPr lvl="0" indent="0" marL="0" algn="r">
                        <a:buNone/>
                      </a:pPr>
                      <a:r>
                        <a:rPr/>
                        <a:t>230</a:t>
                      </a:r>
                    </a:p>
                  </a:txBody>
                </a:tc>
                <a:tc>
                  <a:txBody>
                    <a:bodyPr/>
                    <a:lstStyle/>
                    <a:p>
                      <a:pPr lvl="0" indent="0" marL="0" algn="r">
                        <a:buNone/>
                      </a:pPr>
                      <a:r>
                        <a:rPr/>
                        <a:t>19.6</a:t>
                      </a:r>
                    </a:p>
                  </a:txBody>
                </a:tc>
              </a:tr>
              <a:tr h="0">
                <a:tc>
                  <a:txBody>
                    <a:bodyPr/>
                    <a:lstStyle/>
                    <a:p>
                      <a:pPr lvl="0" indent="0" marL="0" algn="l">
                        <a:buNone/>
                      </a:pPr>
                      <a:r>
                        <a:rPr/>
                        <a:t>No muy satisfecho</a:t>
                      </a:r>
                    </a:p>
                  </a:txBody>
                </a:tc>
                <a:tc>
                  <a:txBody>
                    <a:bodyPr/>
                    <a:lstStyle/>
                    <a:p>
                      <a:pPr lvl="0" indent="0" marL="0" algn="r">
                        <a:buNone/>
                      </a:pPr>
                      <a:r>
                        <a:rPr/>
                        <a:t>497</a:t>
                      </a:r>
                    </a:p>
                  </a:txBody>
                </a:tc>
                <a:tc>
                  <a:txBody>
                    <a:bodyPr/>
                    <a:lstStyle/>
                    <a:p>
                      <a:pPr lvl="0" indent="0" marL="0" algn="r">
                        <a:buNone/>
                      </a:pPr>
                      <a:r>
                        <a:rPr/>
                        <a:t>42.3</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 distribución de la satisfacción con la democracia muestra un predominio de evaluaciones negativas respecto de su funcionamiento en Argentina durante 2023. La categoría más frecuente corresponde a los encuestados </a:t>
            </a:r>
            <a:r>
              <a:rPr b="1"/>
              <a:t>no muy satisfechos</a:t>
            </a:r>
            <a:r>
              <a:rPr/>
              <a:t> (42,3%), seguida por quienes se declaran </a:t>
            </a:r>
            <a:r>
              <a:rPr b="1"/>
              <a:t>más bien satisfechos</a:t>
            </a:r>
            <a:r>
              <a:rPr/>
              <a:t> (30,1%). Por su parte, un 19,6% señala estar </a:t>
            </a:r>
            <a:r>
              <a:rPr b="1"/>
              <a:t>nada satisfecho</a:t>
            </a:r>
            <a:r>
              <a:rPr/>
              <a:t>, mientras que solo un 8,0% manifiesta estar </a:t>
            </a:r>
            <a:r>
              <a:rPr b="1"/>
              <a:t>muy satisfecho</a:t>
            </a:r>
            <a:r>
              <a:rPr/>
              <a:t> con el funcionamiento de la democracia.</a:t>
            </a:r>
          </a:p>
          <a:p>
            <a:pPr lvl="0" indent="0" marL="0">
              <a:buNone/>
            </a:pPr>
            <a:r>
              <a:rPr/>
              <a:t>En términos generales, los resultados sugieren una percepción crítica de la democracia entre los encuestados, ya que más del 60% de la muestra se concentra en categorías de insatisfacción. Este hallazgo resulta consistente con el contexto político y social argentino de 2023, caracterizado por elevados niveles de incertidumbre económica, polarización política y cuestionamientos hacia las instituciones tradicionales.</a:t>
            </a:r>
          </a:p>
        </p:txBody>
      </p:sp>
      <p:pic>
        <p:nvPicPr>
          <p:cNvPr descr="trabajo2_files/figure-pptx/grafico-satisfaccion-democracia-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Distribución de la satisfacción con la democracia en Argentina (2023)</a:t>
            </a:r>
          </a:p>
        </p:txBody>
      </p:sp>
      <p:sp>
        <p:nvSpPr>
          <p:cNvPr id="3" name="Content Placeholder 2"/>
          <p:cNvSpPr>
            <a:spLocks noGrp="1"/>
          </p:cNvSpPr>
          <p:nvPr>
            <p:ph idx="1"/>
          </p:nvPr>
        </p:nvSpPr>
        <p:spPr/>
        <p:txBody>
          <a:bodyPr/>
          <a:lstStyle/>
          <a:p>
            <a:pPr lvl="0" indent="0" marL="1270000">
              <a:buNone/>
            </a:pPr>
            <a:r>
              <a:rPr sz="2000"/>
              <a:t>La distribución de frecuencias muestra que la categoría más frecuente es </a:t>
            </a:r>
            <a:r>
              <a:rPr sz="2000" i="1"/>
              <a:t>“No muy satisfecho”</a:t>
            </a:r>
            <a:r>
              <a:rPr sz="2000"/>
              <a:t>, seguida por </a:t>
            </a:r>
            <a:r>
              <a:rPr sz="2000" i="1"/>
              <a:t>“Más bien satisfecho”</a:t>
            </a:r>
            <a:r>
              <a:rPr sz="2000"/>
              <a:t>. En contraste, las categorías extremas presentan una menor proporción de casos, especialmente </a:t>
            </a:r>
            <a:r>
              <a:rPr sz="2000" i="1"/>
              <a:t>“Muy satisfecho”</a:t>
            </a:r>
            <a:r>
              <a:rPr sz="2000"/>
              <a:t>. Estos resultados sugieren una evaluación predominantemente crítica o moderadamente negativa respecto del funcionamiento de la democracia entre las personas encuestadas.</a:t>
            </a:r>
          </a:p>
          <a:p>
            <a:pPr lvl="0" indent="0" marL="0">
              <a:spcBef>
                <a:spcPts val="3000"/>
              </a:spcBef>
              <a:buNone/>
            </a:pPr>
            <a:r>
              <a:rPr b="1"/>
              <a:t>Asociación entre sexo y satisfacción con la democracia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lgn="l">
                        <a:buNone/>
                      </a:pPr>
                      <a:r>
                        <a:rPr/>
                        <a:t>Sexo</a:t>
                      </a:r>
                    </a:p>
                  </a:txBody>
                  <a:tcPr/>
                </a:tc>
                <a:tc>
                  <a:txBody>
                    <a:bodyPr/>
                    <a:lstStyle/>
                    <a:p>
                      <a:pPr lvl="0" indent="0" marL="0" algn="l">
                        <a:buNone/>
                      </a:pPr>
                      <a:r>
                        <a:rPr/>
                        <a:t>Satisfacción con la democracia</a:t>
                      </a:r>
                    </a:p>
                  </a:txBody>
                  <a:tcPr/>
                </a:tc>
                <a:tc>
                  <a:txBody>
                    <a:bodyPr/>
                    <a:lstStyle/>
                    <a:p>
                      <a:pPr lvl="0" indent="0" marL="0" algn="r">
                        <a:buNone/>
                      </a:pPr>
                      <a:r>
                        <a:rPr/>
                        <a:t>Frecuencia</a:t>
                      </a:r>
                    </a:p>
                  </a:txBody>
                  <a:tcPr/>
                </a:tc>
                <a:tc>
                  <a:txBody>
                    <a:bodyPr/>
                    <a:lstStyle/>
                    <a:p>
                      <a:pPr lvl="0" indent="0" marL="0" algn="r">
                        <a:buNone/>
                      </a:pPr>
                      <a:r>
                        <a:rPr/>
                        <a:t>Porcentaje</a:t>
                      </a:r>
                    </a:p>
                  </a:txBody>
                  <a:tcPr/>
                </a:tc>
              </a:tr>
              <a:tr h="0">
                <a:tc>
                  <a:txBody>
                    <a:bodyPr/>
                    <a:lstStyle/>
                    <a:p>
                      <a:pPr lvl="0" indent="0" marL="0" algn="l">
                        <a:buNone/>
                      </a:pPr>
                      <a:r>
                        <a:rPr/>
                        <a:t>Hombre</a:t>
                      </a:r>
                    </a:p>
                  </a:txBody>
                </a:tc>
                <a:tc>
                  <a:txBody>
                    <a:bodyPr/>
                    <a:lstStyle/>
                    <a:p>
                      <a:pPr lvl="0" indent="0" marL="0" algn="l">
                        <a:buNone/>
                      </a:pPr>
                      <a:r>
                        <a:rPr/>
                        <a:t>Muy satisfecho</a:t>
                      </a:r>
                    </a:p>
                  </a:txBody>
                </a:tc>
                <a:tc>
                  <a:txBody>
                    <a:bodyPr/>
                    <a:lstStyle/>
                    <a:p>
                      <a:pPr lvl="0" indent="0" marL="0" algn="r">
                        <a:buNone/>
                      </a:pPr>
                      <a:r>
                        <a:rPr/>
                        <a:t>41</a:t>
                      </a:r>
                    </a:p>
                  </a:txBody>
                </a:tc>
                <a:tc>
                  <a:txBody>
                    <a:bodyPr/>
                    <a:lstStyle/>
                    <a:p>
                      <a:pPr lvl="0" indent="0" marL="0" algn="r">
                        <a:buNone/>
                      </a:pPr>
                      <a:r>
                        <a:rPr/>
                        <a:t>7.2</a:t>
                      </a:r>
                    </a:p>
                  </a:txBody>
                </a:tc>
              </a:tr>
              <a:tr h="0">
                <a:tc>
                  <a:txBody>
                    <a:bodyPr/>
                    <a:lstStyle/>
                    <a:p>
                      <a:pPr lvl="0" indent="0" marL="0" algn="l">
                        <a:buNone/>
                      </a:pPr>
                      <a:r>
                        <a:rPr/>
                        <a:t>Hombre</a:t>
                      </a:r>
                    </a:p>
                  </a:txBody>
                </a:tc>
                <a:tc>
                  <a:txBody>
                    <a:bodyPr/>
                    <a:lstStyle/>
                    <a:p>
                      <a:pPr lvl="0" indent="0" marL="0" algn="l">
                        <a:buNone/>
                      </a:pPr>
                      <a:r>
                        <a:rPr/>
                        <a:t>Más bien satisfecho</a:t>
                      </a:r>
                    </a:p>
                  </a:txBody>
                </a:tc>
                <a:tc>
                  <a:txBody>
                    <a:bodyPr/>
                    <a:lstStyle/>
                    <a:p>
                      <a:pPr lvl="0" indent="0" marL="0" algn="r">
                        <a:buNone/>
                      </a:pPr>
                      <a:r>
                        <a:rPr/>
                        <a:t>158</a:t>
                      </a:r>
                    </a:p>
                  </a:txBody>
                </a:tc>
                <a:tc>
                  <a:txBody>
                    <a:bodyPr/>
                    <a:lstStyle/>
                    <a:p>
                      <a:pPr lvl="0" indent="0" marL="0" algn="r">
                        <a:buNone/>
                      </a:pPr>
                      <a:r>
                        <a:rPr/>
                        <a:t>27.9</a:t>
                      </a:r>
                    </a:p>
                  </a:txBody>
                </a:tc>
              </a:tr>
              <a:tr h="0">
                <a:tc>
                  <a:txBody>
                    <a:bodyPr/>
                    <a:lstStyle/>
                    <a:p>
                      <a:pPr lvl="0" indent="0" marL="0" algn="l">
                        <a:buNone/>
                      </a:pPr>
                      <a:r>
                        <a:rPr/>
                        <a:t>Hombre</a:t>
                      </a:r>
                    </a:p>
                  </a:txBody>
                </a:tc>
                <a:tc>
                  <a:txBody>
                    <a:bodyPr/>
                    <a:lstStyle/>
                    <a:p>
                      <a:pPr lvl="0" indent="0" marL="0" algn="l">
                        <a:buNone/>
                      </a:pPr>
                      <a:r>
                        <a:rPr/>
                        <a:t>No muy satisfecho</a:t>
                      </a:r>
                    </a:p>
                  </a:txBody>
                </a:tc>
                <a:tc>
                  <a:txBody>
                    <a:bodyPr/>
                    <a:lstStyle/>
                    <a:p>
                      <a:pPr lvl="0" indent="0" marL="0" algn="r">
                        <a:buNone/>
                      </a:pPr>
                      <a:r>
                        <a:rPr/>
                        <a:t>255</a:t>
                      </a:r>
                    </a:p>
                  </a:txBody>
                </a:tc>
                <a:tc>
                  <a:txBody>
                    <a:bodyPr/>
                    <a:lstStyle/>
                    <a:p>
                      <a:pPr lvl="0" indent="0" marL="0" algn="r">
                        <a:buNone/>
                      </a:pPr>
                      <a:r>
                        <a:rPr/>
                        <a:t>45.1</a:t>
                      </a:r>
                    </a:p>
                  </a:txBody>
                </a:tc>
              </a:tr>
              <a:tr h="0">
                <a:tc>
                  <a:txBody>
                    <a:bodyPr/>
                    <a:lstStyle/>
                    <a:p>
                      <a:pPr lvl="0" indent="0" marL="0" algn="l">
                        <a:buNone/>
                      </a:pPr>
                      <a:r>
                        <a:rPr/>
                        <a:t>Hombre</a:t>
                      </a:r>
                    </a:p>
                  </a:txBody>
                </a:tc>
                <a:tc>
                  <a:txBody>
                    <a:bodyPr/>
                    <a:lstStyle/>
                    <a:p>
                      <a:pPr lvl="0" indent="0" marL="0" algn="l">
                        <a:buNone/>
                      </a:pPr>
                      <a:r>
                        <a:rPr/>
                        <a:t>Nada satisfecho</a:t>
                      </a:r>
                    </a:p>
                  </a:txBody>
                </a:tc>
                <a:tc>
                  <a:txBody>
                    <a:bodyPr/>
                    <a:lstStyle/>
                    <a:p>
                      <a:pPr lvl="0" indent="0" marL="0" algn="r">
                        <a:buNone/>
                      </a:pPr>
                      <a:r>
                        <a:rPr/>
                        <a:t>112</a:t>
                      </a:r>
                    </a:p>
                  </a:txBody>
                </a:tc>
                <a:tc>
                  <a:txBody>
                    <a:bodyPr/>
                    <a:lstStyle/>
                    <a:p>
                      <a:pPr lvl="0" indent="0" marL="0" algn="r">
                        <a:buNone/>
                      </a:pPr>
                      <a:r>
                        <a:rPr/>
                        <a:t>19.8</a:t>
                      </a:r>
                    </a:p>
                  </a:txBody>
                </a:tc>
              </a:tr>
              <a:tr h="0">
                <a:tc>
                  <a:txBody>
                    <a:bodyPr/>
                    <a:lstStyle/>
                    <a:p>
                      <a:pPr lvl="0" indent="0" marL="0" algn="l">
                        <a:buNone/>
                      </a:pPr>
                      <a:r>
                        <a:rPr/>
                        <a:t>Mujer</a:t>
                      </a:r>
                    </a:p>
                  </a:txBody>
                </a:tc>
                <a:tc>
                  <a:txBody>
                    <a:bodyPr/>
                    <a:lstStyle/>
                    <a:p>
                      <a:pPr lvl="0" indent="0" marL="0" algn="l">
                        <a:buNone/>
                      </a:pPr>
                      <a:r>
                        <a:rPr/>
                        <a:t>Muy satisfecho</a:t>
                      </a:r>
                    </a:p>
                  </a:txBody>
                </a:tc>
                <a:tc>
                  <a:txBody>
                    <a:bodyPr/>
                    <a:lstStyle/>
                    <a:p>
                      <a:pPr lvl="0" indent="0" marL="0" algn="r">
                        <a:buNone/>
                      </a:pPr>
                      <a:r>
                        <a:rPr/>
                        <a:t>53</a:t>
                      </a:r>
                    </a:p>
                  </a:txBody>
                </a:tc>
                <a:tc>
                  <a:txBody>
                    <a:bodyPr/>
                    <a:lstStyle/>
                    <a:p>
                      <a:pPr lvl="0" indent="0" marL="0" algn="r">
                        <a:buNone/>
                      </a:pPr>
                      <a:r>
                        <a:rPr/>
                        <a:t>8.7</a:t>
                      </a:r>
                    </a:p>
                  </a:txBody>
                </a:tc>
              </a:tr>
              <a:tr h="0">
                <a:tc>
                  <a:txBody>
                    <a:bodyPr/>
                    <a:lstStyle/>
                    <a:p>
                      <a:pPr lvl="0" indent="0" marL="0" algn="l">
                        <a:buNone/>
                      </a:pPr>
                      <a:r>
                        <a:rPr/>
                        <a:t>Mujer</a:t>
                      </a:r>
                    </a:p>
                  </a:txBody>
                </a:tc>
                <a:tc>
                  <a:txBody>
                    <a:bodyPr/>
                    <a:lstStyle/>
                    <a:p>
                      <a:pPr lvl="0" indent="0" marL="0" algn="l">
                        <a:buNone/>
                      </a:pPr>
                      <a:r>
                        <a:rPr/>
                        <a:t>Más bien satisfecho</a:t>
                      </a:r>
                    </a:p>
                  </a:txBody>
                </a:tc>
                <a:tc>
                  <a:txBody>
                    <a:bodyPr/>
                    <a:lstStyle/>
                    <a:p>
                      <a:pPr lvl="0" indent="0" marL="0" algn="r">
                        <a:buNone/>
                      </a:pPr>
                      <a:r>
                        <a:rPr/>
                        <a:t>195</a:t>
                      </a:r>
                    </a:p>
                  </a:txBody>
                </a:tc>
                <a:tc>
                  <a:txBody>
                    <a:bodyPr/>
                    <a:lstStyle/>
                    <a:p>
                      <a:pPr lvl="0" indent="0" marL="0" algn="r">
                        <a:buNone/>
                      </a:pPr>
                      <a:r>
                        <a:rPr/>
                        <a:t>32.1</a:t>
                      </a:r>
                    </a:p>
                  </a:txBody>
                </a:tc>
              </a:tr>
              <a:tr h="0">
                <a:tc>
                  <a:txBody>
                    <a:bodyPr/>
                    <a:lstStyle/>
                    <a:p>
                      <a:pPr lvl="0" indent="0" marL="0" algn="l">
                        <a:buNone/>
                      </a:pPr>
                      <a:r>
                        <a:rPr/>
                        <a:t>Mujer</a:t>
                      </a:r>
                    </a:p>
                  </a:txBody>
                </a:tc>
                <a:tc>
                  <a:txBody>
                    <a:bodyPr/>
                    <a:lstStyle/>
                    <a:p>
                      <a:pPr lvl="0" indent="0" marL="0" algn="l">
                        <a:buNone/>
                      </a:pPr>
                      <a:r>
                        <a:rPr/>
                        <a:t>No muy satisfecho</a:t>
                      </a:r>
                    </a:p>
                  </a:txBody>
                </a:tc>
                <a:tc>
                  <a:txBody>
                    <a:bodyPr/>
                    <a:lstStyle/>
                    <a:p>
                      <a:pPr lvl="0" indent="0" marL="0" algn="r">
                        <a:buNone/>
                      </a:pPr>
                      <a:r>
                        <a:rPr/>
                        <a:t>242</a:t>
                      </a:r>
                    </a:p>
                  </a:txBody>
                </a:tc>
                <a:tc>
                  <a:txBody>
                    <a:bodyPr/>
                    <a:lstStyle/>
                    <a:p>
                      <a:pPr lvl="0" indent="0" marL="0" algn="r">
                        <a:buNone/>
                      </a:pPr>
                      <a:r>
                        <a:rPr/>
                        <a:t>39.8</a:t>
                      </a:r>
                    </a:p>
                  </a:txBody>
                </a:tc>
              </a:tr>
              <a:tr h="0">
                <a:tc>
                  <a:txBody>
                    <a:bodyPr/>
                    <a:lstStyle/>
                    <a:p>
                      <a:pPr lvl="0" indent="0" marL="0" algn="l">
                        <a:buNone/>
                      </a:pPr>
                      <a:r>
                        <a:rPr/>
                        <a:t>Mujer</a:t>
                      </a:r>
                    </a:p>
                  </a:txBody>
                </a:tc>
                <a:tc>
                  <a:txBody>
                    <a:bodyPr/>
                    <a:lstStyle/>
                    <a:p>
                      <a:pPr lvl="0" indent="0" marL="0" algn="l">
                        <a:buNone/>
                      </a:pPr>
                      <a:r>
                        <a:rPr/>
                        <a:t>Nada satisfecho</a:t>
                      </a:r>
                    </a:p>
                  </a:txBody>
                </a:tc>
                <a:tc>
                  <a:txBody>
                    <a:bodyPr/>
                    <a:lstStyle/>
                    <a:p>
                      <a:pPr lvl="0" indent="0" marL="0" algn="r">
                        <a:buNone/>
                      </a:pPr>
                      <a:r>
                        <a:rPr/>
                        <a:t>118</a:t>
                      </a:r>
                    </a:p>
                  </a:txBody>
                </a:tc>
                <a:tc>
                  <a:txBody>
                    <a:bodyPr/>
                    <a:lstStyle/>
                    <a:p>
                      <a:pPr lvl="0" indent="0" marL="0" algn="r">
                        <a:buNone/>
                      </a:pPr>
                      <a:r>
                        <a:rPr/>
                        <a:t>19.4</a:t>
                      </a:r>
                    </a:p>
                  </a:txBody>
                </a:tc>
              </a:tr>
            </a:tbl>
          </a:graphicData>
        </a:graphic>
      </p:graphicFrame>
      <p:sp>
        <p:nvSpPr>
          <p:cNvPr id="1" name="TextBox 3"/>
          <p:cNvSpPr txBox="1"/>
          <p:nvPr/>
        </p:nvSpPr>
        <p:spPr>
          <a:xfrm>
            <a:off x="457200" y="4076700"/>
            <a:ext cx="8229600" cy="508000"/>
          </a:xfrm>
          <a:prstGeom prst="rect">
            <a:avLst/>
          </a:prstGeom>
          <a:noFill/>
        </p:spPr>
        <p:txBody>
          <a:bodyPr/>
          <a:lstStyle/>
          <a:p>
            <a:pPr lvl="0" indent="0" marL="0" algn="ctr">
              <a:buNone/>
            </a:pPr>
            <a:r>
              <a:rPr/>
              <a:t>Tabla 1. Distribución de la satisfacción con la democracia según sexo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Prueba de independencia entre sexo y satisfacción con la democracia</a:t>
            </a:r>
          </a:p>
          <a:p>
            <a:pPr lvl="0" indent="0">
              <a:buNone/>
            </a:pPr>
            <a:r>
              <a:rPr>
                <a:latin typeface="Courier"/>
              </a:rPr>
              <a:t>
    Pearson's Chi-squared test
data:  tabla_sexo
X-squared = 4.4098, df = 3, p-value = 0.2205</a:t>
            </a:r>
          </a:p>
          <a:p>
            <a:pPr lvl="0" indent="0" marL="0">
              <a:spcBef>
                <a:spcPts val="3000"/>
              </a:spcBef>
              <a:buNone/>
            </a:pPr>
            <a:r>
              <a:rPr b="1"/>
              <a:t>Interpretación de pruebas asociación de sexo con la democracia</a:t>
            </a:r>
          </a:p>
          <a:p>
            <a:pPr lvl="0" indent="0" marL="0">
              <a:buNone/>
            </a:pPr>
            <a:r>
              <a:rPr/>
              <a:t>La distribución de la satisfacción con la democracia presenta patrones similares entre hombres y mujeres. En ambos grupos, la categoría más frecuente corresponde a los encuestados </a:t>
            </a:r>
            <a:r>
              <a:rPr i="1"/>
              <a:t>no muy satisfechos</a:t>
            </a:r>
            <a:r>
              <a:rPr/>
              <a:t> con la democracia, alcanzando un 45,1% entre los hombres y un 39,8% entre las mujeres. Asimismo, las mujeres presentan una proporción ligeramente mayor de personas </a:t>
            </a:r>
            <a:r>
              <a:rPr i="1"/>
              <a:t>más bien satisfechas</a:t>
            </a:r>
            <a:r>
              <a:rPr/>
              <a:t> (32,1%) en comparación con los hombres (27,9%). Por su parte, las categorías </a:t>
            </a:r>
            <a:r>
              <a:rPr i="1"/>
              <a:t>muy satisfecho</a:t>
            </a:r>
            <a:r>
              <a:rPr/>
              <a:t> y </a:t>
            </a:r>
            <a:r>
              <a:rPr i="1"/>
              <a:t>nada satisfecho</a:t>
            </a:r>
            <a:r>
              <a:rPr/>
              <a:t> registran porcentajes relativamente similares entre ambos sexos.</a:t>
            </a:r>
          </a:p>
          <a:p>
            <a:pPr lvl="0" indent="0" marL="0">
              <a:buNone/>
            </a:pPr>
            <a:r>
              <a:rPr/>
              <a:t>Con el fin de determinar si estas diferencias observadas son estadísticamente significativas, se aplicó una prueba de independencia Chi-cuadrado. Los resultados indican que no existe una asociación estadísticamente significativa entre el sexo y la satisfacción con la democracia (χ² = 4,41; gl = 3; p = 0,2205). En consecuencia, no se dispone de evidencia suficiente para afirmar que la satisfacción con la democracia varíe según el sexo de los encuestados en Argentina durante 2023.</a:t>
            </a:r>
          </a:p>
          <a:p>
            <a:pPr lvl="0" indent="0" marL="0">
              <a:spcBef>
                <a:spcPts val="3000"/>
              </a:spcBef>
              <a:buNone/>
            </a:pPr>
            <a:r>
              <a:rPr b="1"/>
              <a:t>Asociación entre edad y satisfacción con la democracia</a:t>
            </a:r>
          </a:p>
        </p:txBody>
      </p:sp>
      <p:pic>
        <p:nvPicPr>
          <p:cNvPr descr="trabajo2_files/figure-pptx/grafico-edad-satisfaccion-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Kruskal-Wallis rank sum test
data:  edad by satisfaccion_democracia
Kruskal-Wallis chi-squared = 6.7823, df = 3, p-value = 0.07917</a:t>
            </a:r>
          </a:p>
          <a:p>
            <a:pPr lvl="0" indent="0" marL="0">
              <a:buNone/>
            </a:pPr>
            <a:r>
              <a:rPr/>
              <a:t>El gráfico de cajas sugiere algunas diferencias en la distribución de la edad según el nivel de satisfacción con la democracia. En particular, los encuestados que se declaran muy satisfechos presentan una mediana de edad ligeramente inferior al resto de los grupos. Sin embargo, las distribuciones muestran un amplio grado de superposición entre categorías.</a:t>
            </a:r>
          </a:p>
          <a:p>
            <a:pPr lvl="0" indent="0" marL="0">
              <a:buNone/>
            </a:pPr>
            <a:r>
              <a:rPr/>
              <a:t>Para evaluar formalmente estas diferencias se aplicó la prueba no paramétrica de Kruskal-Wallis. Los resultados indican que las diferencias observadas no son estadísticamente significativas al nivel convencional del 5% (χ² = 6,78; gl = 3; p = 0,079). En consecuencia, no existe evidencia suficiente para afirmar que la edad se asocie con el nivel de satisfacción con la democracia en Argentina durante 2023.</a:t>
            </a:r>
          </a:p>
          <a:p>
            <a:pPr lvl="0" indent="0" marL="0">
              <a:buNone/>
            </a:pPr>
            <a:r>
              <a:rPr/>
              <a:t>No obstante, el valor p obtenido se aproxima al umbral de significancia estadística, por lo que los resultados sugieren una posible tendencia que podría explorarse con mayor profundidad en futuras investigaciones.</a:t>
            </a:r>
          </a:p>
          <a:p>
            <a:pPr lvl="0" indent="0" marL="0">
              <a:spcBef>
                <a:spcPts val="3000"/>
              </a:spcBef>
              <a:buNone/>
            </a:pPr>
            <a:r>
              <a:rPr b="1"/>
              <a:t>Asociación entre nivel educativo y satisfacción con la democracia</a:t>
            </a:r>
          </a:p>
        </p:txBody>
      </p:sp>
      <p:pic>
        <p:nvPicPr>
          <p:cNvPr descr="trabajo2_files/figure-pptx/grafico-educacion-satisfaccion-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Kruskal-Wallis rank sum test
data:  nivel_educativo by satisfaccion_democracia
Kruskal-Wallis chi-squared = 6.5416, df = 3, p-value = 0.08804</a:t>
            </a:r>
          </a:p>
          <a:p>
            <a:pPr lvl="0" indent="0" marL="0">
              <a:buNone/>
            </a:pPr>
            <a:r>
              <a:rPr/>
              <a:t>El gráfico de cajas muestra distribuciones muy similares del nivel educativo entre las distintas categorías de satisfacción con la democracia. Las medianas presentan valores prácticamente equivalentes y existe un amplio solapamiento entre los rangos intercuartílicos de los grupos analizados, lo que sugiere diferencias reducidas en los niveles educativos según el grado de satisfacción democrática.</a:t>
            </a:r>
          </a:p>
          <a:p>
            <a:pPr lvl="0" indent="0" marL="0">
              <a:buNone/>
            </a:pPr>
            <a:r>
              <a:rPr/>
              <a:t>Para evaluar formalmente estas diferencias se aplicó una prueba no paramétrica de Kruskal-Wallis. Los resultados indican que las diferencias observadas no son estadísticamente significativas (χ² = 6,54; gl = 3; p = 0,088). En consecuencia, no existe evidencia suficiente para afirmar que el nivel educativo se asocie con la satisfacción con la democracia en Argentina durante 2023.</a:t>
            </a:r>
          </a:p>
          <a:p>
            <a:pPr lvl="0" indent="0" marL="0">
              <a:buNone/>
            </a:pPr>
            <a:r>
              <a:rPr/>
              <a:t>Si bien el valor p obtenido se aproxima al umbral convencional de significancia estadística, los resultados no permiten rechazar la hipótesis nula de igualdad entre los grupos.</a:t>
            </a:r>
          </a:p>
          <a:p>
            <a:pPr lvl="0" indent="0" marL="0">
              <a:buNone/>
            </a:pPr>
            <a:r>
              <a:rPr/>
              <a:t>Dado que las variables sociodemográficas consideradas no mostraron asociaciones estadísticamente significativas con la satisfacción democrática, se incorporó adicionalmente la variable aprobación presidencial con fines exploratorios. El objetivo fue evaluar si variables de carácter político permiten explicar en mayor medida las diferencias observadas en los niveles de satisfacción con la democracia.</a:t>
            </a:r>
          </a:p>
          <a:p>
            <a:pPr lvl="0" indent="0" marL="0">
              <a:buNone/>
            </a:pPr>
            <a:r>
              <a:rPr/>
              <a:t>Con el objetivo de profundizar el análisis, se estimaron dos modelos de regresión logística ordinal utilizando como variable dependiente la satisfacción con la democracia. El primer modelo incorporó únicamente variables sociodemográficas (sexo, edad y nivel educativo), mientras que el segundo agregó la variable de aprobación presidencial.</a:t>
            </a:r>
          </a:p>
          <a:p>
            <a:pPr lvl="0" indent="0" marL="0">
              <a:spcBef>
                <a:spcPts val="3000"/>
              </a:spcBef>
              <a:buNone/>
            </a:pPr>
            <a:r>
              <a:rPr b="1"/>
              <a:t>Modelo de regresión logística ordinal</a:t>
            </a:r>
          </a:p>
          <a:p>
            <a:pPr lvl="0" indent="0">
              <a:buNone/>
            </a:pPr>
            <a:r>
              <a:rPr>
                <a:latin typeface="Courier"/>
              </a:rPr>
              <a:t>Rows: 1,118
Columns: 10
$ EDAD                    &lt;dbl&gt; 67, 29, 71, 31, 28, 51, 77, 35, 26, 25, 73, 41…
$ SEXO                    &lt;dbl&gt; 2, 2, 1, 1, 1, 2, 2, 1, 1, 1, 2, 2, 1, 1, 2, 2…
$ S11                     &lt;dbl&gt; 13, 11, 12, 13, 13, 13, 15, 13, 13, 15, 12, 12…
$ P11STGBS.A              &lt;dbl&gt; 4, 4, 3, 3, 2, 2, 4, 3, 4, 3, 4, 4, 4, 1, 1, 4…
$ P15STGBS                &lt;dbl&gt; 2, 2, 2, 2, 1, 2, 1, 2, 2, 1, 2, 2, 2, 1, 2, 2…
$ edad                    &lt;dbl&gt; 67, 29, 71, 31, 28, 51, 77, 35, 26, 25, 73, 41…
$ sexo                    &lt;fct&gt; Mujer, Mujer, Hombre, Hombre, Hombre, Mujer, M…
$ nivel_educativo         &lt;dbl&gt; 13, 11, 12, 13, 13, 13, 15, 13, 13, 15, 12, 12…
$ satisfaccion_democracia &lt;ord&gt; Nada satisfecho, Nada satisfecho, No muy satis…
$ aprobacion_presidencial &lt;fct&gt; Desaprueba, Desaprueba, Desaprueba, Desaprueba…</a:t>
            </a:r>
          </a:p>
          <a:p>
            <a:pPr lvl="0" indent="0">
              <a:buNone/>
            </a:pPr>
            <a:r>
              <a:rPr>
                <a:latin typeface="Courier"/>
              </a:rPr>
              <a:t>Call:
polr(formula = satisfaccion_democracia ~ sexo + edad + nivel_educativo, 
    data = datos_regresion, Hess = TRUE)
Coefficients:
                    Value Std. Error t value
sexoMujer       -0.175102   0.110674  -1.582
edad             0.004439   0.003396   1.307
nivel_educativo -0.023043   0.017551  -1.313
Intercepts:
                                      Value   Std. Error t value
Muy satisfecho|Más bien satisfecho    -2.7013  0.3179    -8.4969
Más bien satisfecho|No muy satisfecho -0.7238  0.3023    -2.3943
No muy satisfecho|Nada satisfecho      1.2017  0.3037     3.9569
Residual Deviance: 2766.882 
AIC: 2778.882 </a:t>
            </a:r>
          </a:p>
          <a:p>
            <a:pPr lvl="0" indent="0" marL="0">
              <a:spcBef>
                <a:spcPts val="3000"/>
              </a:spcBef>
              <a:buNone/>
            </a:pPr>
            <a:r>
              <a:rPr b="1"/>
              <a:t>MODELO 1</a:t>
            </a:r>
          </a:p>
          <a:p>
            <a:pPr lvl="0" indent="0" marL="0">
              <a:buNone/>
            </a:pPr>
            <a:r>
              <a:rPr/>
              <a:t>Los resultados del primer modelo muestran que ninguna de las variables sociodemográficas presenta una asociación estadísticamente relevante con la satisfacción democrática. Este hallazgo es consistente con los análisis bivariados realizados previamente.</a:t>
            </a:r>
          </a:p>
          <a:p>
            <a:pPr lvl="0" indent="0">
              <a:buNone/>
            </a:pPr>
            <a:r>
              <a:rPr>
                <a:latin typeface="Courier"/>
              </a:rPr>
              <a:t>Call:
polr(formula = satisfaccion_democracia ~ sexo + edad + nivel_educativo + 
    aprobacion_presidencial, data = datos_regresion, Hess = TRUE)
Coefficients:
                                      Value Std. Error t value
sexoMujer                         -0.131351   0.111996  -1.173
edad                               0.005825   0.003423   1.702
nivel_educativo                   -0.023443   0.017751  -1.321
aprobacion_presidencialDesaprueba  1.596968   0.143629  11.119
Intercepts:
                                      Value   Std. Error t value
Muy satisfecho|Más bien satisfecho    -1.5890  0.3343    -4.7524
Más bien satisfecho|No muy satisfecho  0.5775  0.3274     1.7638
No muy satisfecho|Nada satisfecho      2.6573  0.3354     7.9234
Residual Deviance: 2636.541 
AIC: 2650.541 </a:t>
            </a:r>
          </a:p>
          <a:p>
            <a:pPr lvl="0" indent="0" marL="0">
              <a:spcBef>
                <a:spcPts val="3000"/>
              </a:spcBef>
              <a:buNone/>
            </a:pPr>
            <a:r>
              <a:rPr b="1"/>
              <a:t>MODELO 2</a:t>
            </a:r>
          </a:p>
          <a:p>
            <a:pPr lvl="0" indent="0" marL="0">
              <a:buNone/>
            </a:pPr>
            <a:r>
              <a:rPr/>
              <a:t>En contraste, al incorporar la aprobación presidencial en el segundo modelo, esta variable emerge como un predictor altamente relevante de la satisfacción con la democracia (t = 11,12). Además, el ajuste global del modelo mejora sustancialmente, reduciendo el AIC desde 2778,88 hasta 2650,54. Estos resultados indican que la evaluación que los ciudadanos realizan del desempeño del gobierno posee una capacidad explicativa considerablemente mayor que las características sociodemográficas analizadas.</a:t>
            </a:r>
          </a:p>
          <a:p>
            <a:pPr lvl="0" indent="0" marL="0">
              <a:spcBef>
                <a:spcPts val="3000"/>
              </a:spcBef>
              <a:buNone/>
            </a:pPr>
            <a:r>
              <a:rPr b="1"/>
              <a:t>Entrega 4</a:t>
            </a:r>
          </a:p>
          <a:p>
            <a:pPr lvl="0" indent="0" marL="0">
              <a:buNone/>
            </a:pPr>
            <a:r>
              <a:rPr/>
              <a:t>Siguiendo las directrices para este ultima entrega,  se estimó un modelo de regresión logística binaria. esta técnica permite evaluar simultáneamente el efecto de múltiples variables independientes sobre la probabilidad de que un individuo pertenezca a una determinada categoría de la variable dependiente.</a:t>
            </a:r>
          </a:p>
          <a:p>
            <a:pPr lvl="0" indent="0" marL="0">
              <a:buNone/>
            </a:pPr>
            <a:r>
              <a:rPr/>
              <a:t>Para ello, la variable satisfacción con la democracia fue recodificada en una variable dicotómica. Se agruparon las categorías </a:t>
            </a:r>
            <a:r>
              <a:rPr i="1"/>
              <a:t>muy satisfecho</a:t>
            </a:r>
            <a:r>
              <a:rPr/>
              <a:t> y </a:t>
            </a:r>
            <a:r>
              <a:rPr i="1"/>
              <a:t>más bien satisfecho</a:t>
            </a:r>
            <a:r>
              <a:rPr/>
              <a:t> como personas satisfechas con la democracia, mientras que las categorías </a:t>
            </a:r>
            <a:r>
              <a:rPr i="1"/>
              <a:t>no muy satisfecho</a:t>
            </a:r>
            <a:r>
              <a:rPr/>
              <a:t> y </a:t>
            </a:r>
            <a:r>
              <a:rPr i="1"/>
              <a:t>nada satisfecho</a:t>
            </a:r>
            <a:r>
              <a:rPr/>
              <a:t> fueron agrupadas como personas insatisfechas. Posteriormente, se estimó un modelo que incorpora las variables sexo, edad, nivel educativo y aprobación presidencial, con el objetivo de identificar cuáles de estos factores se asocian con la probabilidad de manifestar satisfacción con el funcionamiento de la democracia en Argentina durante 2023.</a:t>
            </a:r>
          </a:p>
          <a:p>
            <a:pPr lvl="0" indent="0" marL="0">
              <a:spcBef>
                <a:spcPts val="3000"/>
              </a:spcBef>
              <a:buNone/>
            </a:pPr>
            <a:r>
              <a:rPr b="1"/>
              <a:t>Regresión logística binaria</a:t>
            </a:r>
          </a:p>
          <a:p>
            <a:pPr lvl="0" indent="0">
              <a:buNone/>
            </a:pPr>
            <a:r>
              <a:rPr>
                <a:latin typeface="Courier"/>
              </a:rPr>
              <a:t>
Call:
glm(formula = satisfaccion_binaria ~ sexo + edad + nivel_educativo + 
    aprobacion_presidencial, family = binomial(link = "logit"), 
    data = datos_logit)
Coefficients:
                                   Estimate Std. Error z value Pr(&gt;|z|)    
(Intercept)                        0.413035   0.386004   1.070   0.2846    
sexoMujer                          0.187194   0.133104   1.406   0.1596    
edad                              -0.003430   0.004058  -0.845   0.3980    
nivel_educativo                    0.036041   0.021622   1.667   0.0955 .  
aprobacion_presidencialDesaprueba -1.751667   0.160798 -10.894   &lt;2e-16 ***
---
Signif. codes:  0 '***' 0.001 '**' 0.01 '*' 0.05 '.' 0.1 ' ' 1
(Dispersion parameter for binomial family taken to be 1)
    Null deviance: 1474.8  on 1117  degrees of freedom
Residual deviance: 1337.3  on 1113  degrees of freedom
AIC: 1347.3
Number of Fisher Scoring iterations: 4</a:t>
            </a:r>
          </a:p>
          <a:p>
            <a:pPr lvl="0" indent="0">
              <a:buNone/>
            </a:pPr>
            <a:r>
              <a:rPr>
                <a:latin typeface="Courier"/>
              </a:rPr>
              <a:t>                      (Intercept)                         sexoMujer 
                        1.5113973                         1.2058615 
                             edad                   nivel_educativo 
                        0.9965755                         1.0366986 
aprobacion_presidencialDesaprueba 
                        0.1734845 </a:t>
            </a:r>
          </a:p>
          <a:p>
            <a:pPr lvl="0" indent="0" marL="0">
              <a:spcBef>
                <a:spcPts val="3000"/>
              </a:spcBef>
              <a:buNone/>
            </a:pPr>
            <a:r>
              <a:rPr b="1"/>
              <a:t>Hallazgos</a:t>
            </a:r>
          </a:p>
          <a:p>
            <a:pPr lvl="0" indent="0" marL="0">
              <a:buNone/>
            </a:pPr>
            <a:r>
              <a:rPr/>
              <a:t>Los resultados de la regresión logística binaria muestran que la aprobación presidencial es la única variable que presenta una asociación estadísticamente significativa con la satisfacción con la democracia. En particular, los individuos que desaprueban la gestión presidencial tienen una probabilidad considerablemente menor de declararse satisfechos con la democracia en comparación con quienes aprueban al presidente (OR = 0,173; p &lt; 0,001). Esto equivale a una reducción aproximada del 83% en las probabilidades de manifestar satisfacción democrática.</a:t>
            </a:r>
          </a:p>
          <a:p>
            <a:pPr lvl="0" indent="0" marL="0">
              <a:buNone/>
            </a:pPr>
            <a:r>
              <a:rPr/>
              <a:t>Por el contrario, las variables sexo, edad y nivel educativo no alcanzan niveles convencionales de significancia estadística, lo que sugiere que estas características sociodemográficas poseen una capacidad explicativa limitada respecto de la satisfacción con la democracia. En conjunto, los resultados indican que las percepciones políticas vinculadas a la evaluación del gobierno desempeñan un papel mucho más relevante que los atributos sociodemográficos en la explicación de la satisfacción democrática en Argentina durante 2023.</a:t>
            </a:r>
          </a:p>
          <a:p>
            <a:pPr lvl="0" indent="0" marL="0">
              <a:spcBef>
                <a:spcPts val="3000"/>
              </a:spcBef>
              <a:buNone/>
            </a:pPr>
            <a:r>
              <a:rPr b="1"/>
              <a:t>Probabilidades predichas de satisfacción con la democracia</a:t>
            </a:r>
          </a:p>
        </p:txBody>
      </p:sp>
      <p:pic>
        <p:nvPicPr>
          <p:cNvPr descr="trabajo2_files/figure-pptx/grafico-probabilidades-predichas-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El gráfico presenta las probabilidades predichas de manifestar satisfacción con la democracia a partir del modelo de regresión logística binaria, manteniendo constantes la edad y el nivel educativo en sus valores promedio. Los resultados muestran diferencias sustantivas según la evaluación del desempeño presidencial. Entre quienes aprueban al presidente, la probabilidad estimada de encontrarse satisfechos con la democracia supera el 65% tanto en hombres como en mujeres. En contraste, entre quienes desaprueban la gestión presidencial, dicha probabilidad desciende a valores cercanos al 30%.</a:t>
            </a:r>
          </a:p>
          <a:p>
            <a:pPr lvl="0" indent="0" marL="0">
              <a:buNone/>
            </a:pPr>
            <a:r>
              <a:rPr/>
              <a:t>Por otra parte, las diferencias entre hombres y mujeres son relativamente reducidas en ambos grupos, lo que resulta consistente con los resultados obtenidos previamente en los análisis bivariados y en la regresión logística. En conjunto, la evidencia sugiere que la aprobación presidencial constituye un factor considerablemente más relevante para explicar la satisfacción con la democracia que las variables sociodemográficas consideradas en este estudio.</a:t>
            </a:r>
          </a:p>
          <a:p>
            <a:pPr lvl="0" indent="0" marL="0">
              <a:buNone/>
            </a:pPr>
            <a:r>
              <a:rPr/>
              <a:t>“El ascenso de Milei en Argentina y las nuevas extremas derechas de América Latina*.” n.d. </a:t>
            </a:r>
            <a:r>
              <a:rPr>
                <a:hlinkClick r:id="rId2"/>
              </a:rPr>
              <a:t>https://revistas.javeriana.edu.co/files-articulos/PaPo/29(2024)/6812641001/index.html</a:t>
            </a:r>
            <a:r>
              <a:rPr/>
              <a:t>.</a:t>
            </a:r>
          </a:p>
          <a:p>
            <a:pPr lvl="0" indent="0" marL="0">
              <a:buNone/>
            </a:pPr>
            <a:r>
              <a:rPr/>
              <a:t>Tedesco, Laura. 2025. “Raúl Alfonsín’s Government: The Beginning of Political Polarization in Argentina.” </a:t>
            </a:r>
            <a:r>
              <a:rPr i="1"/>
              <a:t>Journal of World Affairs</a:t>
            </a:r>
            <a:r>
              <a:rPr/>
              <a:t> 1 (1): 78–93. </a:t>
            </a:r>
            <a:r>
              <a:rPr>
                <a:hlinkClick r:id="rId3"/>
              </a:rPr>
              <a:t>https://doi.org/10.1177/29769442251325357</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Trabajo 2</dc:title>
  <dc:creator/>
  <cp:keywords/>
  <dcterms:created xsi:type="dcterms:W3CDTF">2026-06-15T16:30:12Z</dcterms:created>
  <dcterms:modified xsi:type="dcterms:W3CDTF">2026-06-15T16:30:12Z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latibarometro.bib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